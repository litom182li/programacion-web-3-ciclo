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2" r:id="rId17"/>
    <p:sldId id="263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2585" y="0"/>
            <a:ext cx="952500" cy="10286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998969" y="0"/>
            <a:ext cx="11289665" cy="10287000"/>
          </a:xfrm>
          <a:custGeom>
            <a:avLst/>
            <a:gdLst/>
            <a:ahLst/>
            <a:cxnLst/>
            <a:rect l="l" t="t" r="r" b="b"/>
            <a:pathLst>
              <a:path w="11289665" h="10287000">
                <a:moveTo>
                  <a:pt x="11289411" y="0"/>
                </a:moveTo>
                <a:lnTo>
                  <a:pt x="0" y="0"/>
                </a:lnTo>
                <a:lnTo>
                  <a:pt x="0" y="10287000"/>
                </a:lnTo>
                <a:lnTo>
                  <a:pt x="11289411" y="10287000"/>
                </a:lnTo>
                <a:lnTo>
                  <a:pt x="11289411" y="0"/>
                </a:lnTo>
                <a:close/>
              </a:path>
            </a:pathLst>
          </a:custGeom>
          <a:solidFill>
            <a:srgbClr val="032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000494" y="0"/>
            <a:ext cx="3317875" cy="3877310"/>
          </a:xfrm>
          <a:custGeom>
            <a:avLst/>
            <a:gdLst/>
            <a:ahLst/>
            <a:cxnLst/>
            <a:rect l="l" t="t" r="r" b="b"/>
            <a:pathLst>
              <a:path w="3317875" h="3877310">
                <a:moveTo>
                  <a:pt x="439928" y="0"/>
                </a:moveTo>
                <a:lnTo>
                  <a:pt x="254" y="0"/>
                </a:lnTo>
                <a:lnTo>
                  <a:pt x="254" y="524129"/>
                </a:lnTo>
                <a:lnTo>
                  <a:pt x="8763" y="526034"/>
                </a:lnTo>
                <a:lnTo>
                  <a:pt x="12446" y="519303"/>
                </a:lnTo>
                <a:lnTo>
                  <a:pt x="59436" y="463296"/>
                </a:lnTo>
                <a:lnTo>
                  <a:pt x="80645" y="437642"/>
                </a:lnTo>
                <a:lnTo>
                  <a:pt x="172339" y="325374"/>
                </a:lnTo>
                <a:lnTo>
                  <a:pt x="312674" y="154305"/>
                </a:lnTo>
                <a:lnTo>
                  <a:pt x="439928" y="0"/>
                </a:lnTo>
                <a:close/>
              </a:path>
              <a:path w="3317875" h="3877310">
                <a:moveTo>
                  <a:pt x="1363599" y="0"/>
                </a:moveTo>
                <a:lnTo>
                  <a:pt x="679831" y="0"/>
                </a:lnTo>
                <a:lnTo>
                  <a:pt x="608330" y="79756"/>
                </a:lnTo>
                <a:lnTo>
                  <a:pt x="381381" y="337566"/>
                </a:lnTo>
                <a:lnTo>
                  <a:pt x="99441" y="654939"/>
                </a:lnTo>
                <a:lnTo>
                  <a:pt x="254" y="767969"/>
                </a:lnTo>
                <a:lnTo>
                  <a:pt x="254" y="1536700"/>
                </a:lnTo>
                <a:lnTo>
                  <a:pt x="9144" y="1541399"/>
                </a:lnTo>
                <a:lnTo>
                  <a:pt x="11938" y="1533271"/>
                </a:lnTo>
                <a:lnTo>
                  <a:pt x="16256" y="1528953"/>
                </a:lnTo>
                <a:lnTo>
                  <a:pt x="38354" y="1505585"/>
                </a:lnTo>
                <a:lnTo>
                  <a:pt x="59436" y="1481328"/>
                </a:lnTo>
                <a:lnTo>
                  <a:pt x="80264" y="1456817"/>
                </a:lnTo>
                <a:lnTo>
                  <a:pt x="131572" y="1399540"/>
                </a:lnTo>
                <a:lnTo>
                  <a:pt x="300482" y="1207008"/>
                </a:lnTo>
                <a:lnTo>
                  <a:pt x="351790" y="1149604"/>
                </a:lnTo>
                <a:lnTo>
                  <a:pt x="399542" y="1094867"/>
                </a:lnTo>
                <a:lnTo>
                  <a:pt x="456057" y="1030859"/>
                </a:lnTo>
                <a:lnTo>
                  <a:pt x="520700" y="957072"/>
                </a:lnTo>
                <a:lnTo>
                  <a:pt x="577723" y="892810"/>
                </a:lnTo>
                <a:lnTo>
                  <a:pt x="626110" y="837565"/>
                </a:lnTo>
                <a:lnTo>
                  <a:pt x="807847" y="631317"/>
                </a:lnTo>
                <a:lnTo>
                  <a:pt x="867283" y="563245"/>
                </a:lnTo>
                <a:lnTo>
                  <a:pt x="1152906" y="239014"/>
                </a:lnTo>
                <a:lnTo>
                  <a:pt x="1217041" y="165862"/>
                </a:lnTo>
                <a:lnTo>
                  <a:pt x="1274191" y="101346"/>
                </a:lnTo>
                <a:lnTo>
                  <a:pt x="1323721" y="44704"/>
                </a:lnTo>
                <a:lnTo>
                  <a:pt x="1363599" y="0"/>
                </a:lnTo>
                <a:close/>
              </a:path>
              <a:path w="3317875" h="3877310">
                <a:moveTo>
                  <a:pt x="2313178" y="0"/>
                </a:moveTo>
                <a:lnTo>
                  <a:pt x="1655953" y="0"/>
                </a:lnTo>
                <a:lnTo>
                  <a:pt x="1529461" y="153416"/>
                </a:lnTo>
                <a:lnTo>
                  <a:pt x="1333881" y="389763"/>
                </a:lnTo>
                <a:lnTo>
                  <a:pt x="1268095" y="468630"/>
                </a:lnTo>
                <a:lnTo>
                  <a:pt x="1003935" y="788416"/>
                </a:lnTo>
                <a:lnTo>
                  <a:pt x="905002" y="908812"/>
                </a:lnTo>
                <a:lnTo>
                  <a:pt x="840486" y="986409"/>
                </a:lnTo>
                <a:lnTo>
                  <a:pt x="745236" y="1101979"/>
                </a:lnTo>
                <a:lnTo>
                  <a:pt x="590169" y="1289431"/>
                </a:lnTo>
                <a:lnTo>
                  <a:pt x="529082" y="1362964"/>
                </a:lnTo>
                <a:lnTo>
                  <a:pt x="467741" y="1436370"/>
                </a:lnTo>
                <a:lnTo>
                  <a:pt x="444881" y="1464183"/>
                </a:lnTo>
                <a:lnTo>
                  <a:pt x="399796" y="1520190"/>
                </a:lnTo>
                <a:lnTo>
                  <a:pt x="376936" y="1547876"/>
                </a:lnTo>
                <a:lnTo>
                  <a:pt x="346075" y="1584706"/>
                </a:lnTo>
                <a:lnTo>
                  <a:pt x="192913" y="1769745"/>
                </a:lnTo>
                <a:lnTo>
                  <a:pt x="116459" y="1861058"/>
                </a:lnTo>
                <a:lnTo>
                  <a:pt x="35179" y="1959483"/>
                </a:lnTo>
                <a:lnTo>
                  <a:pt x="17272" y="1981454"/>
                </a:lnTo>
                <a:lnTo>
                  <a:pt x="254" y="2004060"/>
                </a:lnTo>
                <a:lnTo>
                  <a:pt x="254" y="2792984"/>
                </a:lnTo>
                <a:lnTo>
                  <a:pt x="8509" y="2797556"/>
                </a:lnTo>
                <a:lnTo>
                  <a:pt x="11049" y="2789682"/>
                </a:lnTo>
                <a:lnTo>
                  <a:pt x="14986" y="2785872"/>
                </a:lnTo>
                <a:lnTo>
                  <a:pt x="32639" y="2767076"/>
                </a:lnTo>
                <a:lnTo>
                  <a:pt x="49149" y="2747264"/>
                </a:lnTo>
                <a:lnTo>
                  <a:pt x="65278" y="2727198"/>
                </a:lnTo>
                <a:lnTo>
                  <a:pt x="81661" y="2707259"/>
                </a:lnTo>
                <a:lnTo>
                  <a:pt x="117348" y="2664460"/>
                </a:lnTo>
                <a:lnTo>
                  <a:pt x="421640" y="2294382"/>
                </a:lnTo>
                <a:lnTo>
                  <a:pt x="579374" y="2102993"/>
                </a:lnTo>
                <a:lnTo>
                  <a:pt x="609727" y="2065655"/>
                </a:lnTo>
                <a:lnTo>
                  <a:pt x="625094" y="2047113"/>
                </a:lnTo>
                <a:lnTo>
                  <a:pt x="672846" y="1990598"/>
                </a:lnTo>
                <a:lnTo>
                  <a:pt x="767334" y="1874393"/>
                </a:lnTo>
                <a:lnTo>
                  <a:pt x="859155" y="1762633"/>
                </a:lnTo>
                <a:lnTo>
                  <a:pt x="1084580" y="1490091"/>
                </a:lnTo>
                <a:lnTo>
                  <a:pt x="1146175" y="1414780"/>
                </a:lnTo>
                <a:lnTo>
                  <a:pt x="1210437" y="1337310"/>
                </a:lnTo>
                <a:lnTo>
                  <a:pt x="1309751" y="1216533"/>
                </a:lnTo>
                <a:lnTo>
                  <a:pt x="1362329" y="1153541"/>
                </a:lnTo>
                <a:lnTo>
                  <a:pt x="1419352" y="1083818"/>
                </a:lnTo>
                <a:lnTo>
                  <a:pt x="1506093" y="979551"/>
                </a:lnTo>
                <a:lnTo>
                  <a:pt x="1565529" y="906907"/>
                </a:lnTo>
                <a:lnTo>
                  <a:pt x="1658366" y="794258"/>
                </a:lnTo>
                <a:lnTo>
                  <a:pt x="1786890" y="638937"/>
                </a:lnTo>
                <a:lnTo>
                  <a:pt x="1978406" y="406527"/>
                </a:lnTo>
                <a:lnTo>
                  <a:pt x="2069719" y="296164"/>
                </a:lnTo>
                <a:lnTo>
                  <a:pt x="2165985" y="178181"/>
                </a:lnTo>
                <a:lnTo>
                  <a:pt x="2229104" y="101981"/>
                </a:lnTo>
                <a:lnTo>
                  <a:pt x="2290191" y="27559"/>
                </a:lnTo>
                <a:lnTo>
                  <a:pt x="2313178" y="0"/>
                </a:lnTo>
                <a:close/>
              </a:path>
              <a:path w="3317875" h="3877310">
                <a:moveTo>
                  <a:pt x="3317621" y="0"/>
                </a:moveTo>
                <a:lnTo>
                  <a:pt x="2659507" y="0"/>
                </a:lnTo>
                <a:lnTo>
                  <a:pt x="2506472" y="179451"/>
                </a:lnTo>
                <a:lnTo>
                  <a:pt x="2215007" y="519938"/>
                </a:lnTo>
                <a:lnTo>
                  <a:pt x="2092071" y="664210"/>
                </a:lnTo>
                <a:lnTo>
                  <a:pt x="2034794" y="731012"/>
                </a:lnTo>
                <a:lnTo>
                  <a:pt x="1982978" y="792861"/>
                </a:lnTo>
                <a:lnTo>
                  <a:pt x="1911096" y="876681"/>
                </a:lnTo>
                <a:lnTo>
                  <a:pt x="1839976" y="960374"/>
                </a:lnTo>
                <a:lnTo>
                  <a:pt x="1744599" y="1071372"/>
                </a:lnTo>
                <a:lnTo>
                  <a:pt x="1674114" y="1154557"/>
                </a:lnTo>
                <a:lnTo>
                  <a:pt x="1567815" y="1278763"/>
                </a:lnTo>
                <a:lnTo>
                  <a:pt x="1421003" y="1451991"/>
                </a:lnTo>
                <a:lnTo>
                  <a:pt x="1258570" y="1641856"/>
                </a:lnTo>
                <a:lnTo>
                  <a:pt x="1208786" y="1700530"/>
                </a:lnTo>
                <a:lnTo>
                  <a:pt x="1149350" y="1769745"/>
                </a:lnTo>
                <a:lnTo>
                  <a:pt x="1021461" y="1919605"/>
                </a:lnTo>
                <a:lnTo>
                  <a:pt x="971677" y="1978406"/>
                </a:lnTo>
                <a:lnTo>
                  <a:pt x="910717" y="2049145"/>
                </a:lnTo>
                <a:lnTo>
                  <a:pt x="733171" y="2257679"/>
                </a:lnTo>
                <a:lnTo>
                  <a:pt x="674243" y="2326386"/>
                </a:lnTo>
                <a:lnTo>
                  <a:pt x="604139" y="2408682"/>
                </a:lnTo>
                <a:lnTo>
                  <a:pt x="545211" y="2477389"/>
                </a:lnTo>
                <a:lnTo>
                  <a:pt x="498348" y="2533015"/>
                </a:lnTo>
                <a:lnTo>
                  <a:pt x="408813" y="2637028"/>
                </a:lnTo>
                <a:lnTo>
                  <a:pt x="277876" y="2790444"/>
                </a:lnTo>
                <a:lnTo>
                  <a:pt x="203835" y="2876423"/>
                </a:lnTo>
                <a:lnTo>
                  <a:pt x="167132" y="2919603"/>
                </a:lnTo>
                <a:lnTo>
                  <a:pt x="130683" y="2962910"/>
                </a:lnTo>
                <a:lnTo>
                  <a:pt x="97790" y="3001518"/>
                </a:lnTo>
                <a:lnTo>
                  <a:pt x="64516" y="3039872"/>
                </a:lnTo>
                <a:lnTo>
                  <a:pt x="31750" y="3078607"/>
                </a:lnTo>
                <a:lnTo>
                  <a:pt x="0" y="3118104"/>
                </a:lnTo>
                <a:lnTo>
                  <a:pt x="0" y="3877056"/>
                </a:lnTo>
                <a:lnTo>
                  <a:pt x="6731" y="3877056"/>
                </a:lnTo>
                <a:lnTo>
                  <a:pt x="6858" y="3874135"/>
                </a:lnTo>
                <a:lnTo>
                  <a:pt x="8001" y="3871595"/>
                </a:lnTo>
                <a:lnTo>
                  <a:pt x="14859" y="3863721"/>
                </a:lnTo>
                <a:lnTo>
                  <a:pt x="46609" y="3825748"/>
                </a:lnTo>
                <a:lnTo>
                  <a:pt x="64262" y="3805047"/>
                </a:lnTo>
                <a:lnTo>
                  <a:pt x="111887" y="3750437"/>
                </a:lnTo>
                <a:lnTo>
                  <a:pt x="144526" y="3711829"/>
                </a:lnTo>
                <a:lnTo>
                  <a:pt x="164465" y="3688854"/>
                </a:lnTo>
                <a:lnTo>
                  <a:pt x="180848" y="3668776"/>
                </a:lnTo>
                <a:lnTo>
                  <a:pt x="197612" y="3648710"/>
                </a:lnTo>
                <a:lnTo>
                  <a:pt x="250825" y="3587750"/>
                </a:lnTo>
                <a:lnTo>
                  <a:pt x="307594" y="3520948"/>
                </a:lnTo>
                <a:lnTo>
                  <a:pt x="339598" y="3483991"/>
                </a:lnTo>
                <a:lnTo>
                  <a:pt x="402971" y="3409569"/>
                </a:lnTo>
                <a:lnTo>
                  <a:pt x="439674" y="3365754"/>
                </a:lnTo>
                <a:lnTo>
                  <a:pt x="475361" y="3325114"/>
                </a:lnTo>
                <a:lnTo>
                  <a:pt x="528574" y="3261995"/>
                </a:lnTo>
                <a:lnTo>
                  <a:pt x="604139" y="3173476"/>
                </a:lnTo>
                <a:lnTo>
                  <a:pt x="640842" y="3131693"/>
                </a:lnTo>
                <a:lnTo>
                  <a:pt x="686689" y="3077845"/>
                </a:lnTo>
                <a:lnTo>
                  <a:pt x="738632" y="3015742"/>
                </a:lnTo>
                <a:lnTo>
                  <a:pt x="776478" y="2972689"/>
                </a:lnTo>
                <a:lnTo>
                  <a:pt x="828548" y="2910713"/>
                </a:lnTo>
                <a:lnTo>
                  <a:pt x="925195" y="2798445"/>
                </a:lnTo>
                <a:lnTo>
                  <a:pt x="943102" y="2778125"/>
                </a:lnTo>
                <a:lnTo>
                  <a:pt x="984250" y="2729103"/>
                </a:lnTo>
                <a:lnTo>
                  <a:pt x="1017270" y="2690749"/>
                </a:lnTo>
                <a:lnTo>
                  <a:pt x="1079246" y="2617470"/>
                </a:lnTo>
                <a:lnTo>
                  <a:pt x="1109091" y="2583180"/>
                </a:lnTo>
                <a:lnTo>
                  <a:pt x="1164971" y="2517775"/>
                </a:lnTo>
                <a:lnTo>
                  <a:pt x="1183767" y="2496058"/>
                </a:lnTo>
                <a:lnTo>
                  <a:pt x="1222756" y="2449830"/>
                </a:lnTo>
                <a:lnTo>
                  <a:pt x="1274572" y="2389886"/>
                </a:lnTo>
                <a:lnTo>
                  <a:pt x="1300480" y="2358771"/>
                </a:lnTo>
                <a:lnTo>
                  <a:pt x="1319276" y="2336546"/>
                </a:lnTo>
                <a:lnTo>
                  <a:pt x="1389380" y="2255266"/>
                </a:lnTo>
                <a:lnTo>
                  <a:pt x="1423797" y="2215896"/>
                </a:lnTo>
                <a:lnTo>
                  <a:pt x="1488694" y="2138426"/>
                </a:lnTo>
                <a:lnTo>
                  <a:pt x="1529588" y="2091436"/>
                </a:lnTo>
                <a:lnTo>
                  <a:pt x="1592326" y="2017649"/>
                </a:lnTo>
                <a:lnTo>
                  <a:pt x="1609090" y="1998599"/>
                </a:lnTo>
                <a:lnTo>
                  <a:pt x="1656588" y="1942846"/>
                </a:lnTo>
                <a:lnTo>
                  <a:pt x="1695196" y="1898269"/>
                </a:lnTo>
                <a:lnTo>
                  <a:pt x="1721104" y="1867154"/>
                </a:lnTo>
                <a:lnTo>
                  <a:pt x="1739900" y="1844929"/>
                </a:lnTo>
                <a:lnTo>
                  <a:pt x="1760220" y="1821434"/>
                </a:lnTo>
                <a:lnTo>
                  <a:pt x="1797304" y="1777873"/>
                </a:lnTo>
                <a:lnTo>
                  <a:pt x="1884172" y="1676527"/>
                </a:lnTo>
                <a:lnTo>
                  <a:pt x="1909953" y="1646936"/>
                </a:lnTo>
                <a:lnTo>
                  <a:pt x="1929130" y="1624584"/>
                </a:lnTo>
                <a:lnTo>
                  <a:pt x="1982470" y="1561084"/>
                </a:lnTo>
                <a:lnTo>
                  <a:pt x="2069465" y="1460246"/>
                </a:lnTo>
                <a:lnTo>
                  <a:pt x="2107565" y="1415161"/>
                </a:lnTo>
                <a:lnTo>
                  <a:pt x="2147062" y="1369187"/>
                </a:lnTo>
                <a:lnTo>
                  <a:pt x="2180590" y="1329055"/>
                </a:lnTo>
                <a:lnTo>
                  <a:pt x="2218563" y="1286129"/>
                </a:lnTo>
                <a:lnTo>
                  <a:pt x="2240915" y="1259840"/>
                </a:lnTo>
                <a:lnTo>
                  <a:pt x="2316353" y="1170051"/>
                </a:lnTo>
                <a:lnTo>
                  <a:pt x="2344928" y="1137793"/>
                </a:lnTo>
                <a:lnTo>
                  <a:pt x="2374646" y="1102360"/>
                </a:lnTo>
                <a:lnTo>
                  <a:pt x="2404872" y="1067689"/>
                </a:lnTo>
                <a:lnTo>
                  <a:pt x="2431796" y="1036066"/>
                </a:lnTo>
                <a:lnTo>
                  <a:pt x="2476754" y="982599"/>
                </a:lnTo>
                <a:lnTo>
                  <a:pt x="2546731" y="901573"/>
                </a:lnTo>
                <a:lnTo>
                  <a:pt x="2572639" y="871982"/>
                </a:lnTo>
                <a:lnTo>
                  <a:pt x="2581021" y="862076"/>
                </a:lnTo>
                <a:lnTo>
                  <a:pt x="2591054" y="849503"/>
                </a:lnTo>
                <a:lnTo>
                  <a:pt x="2601214" y="837184"/>
                </a:lnTo>
                <a:lnTo>
                  <a:pt x="2627376" y="806958"/>
                </a:lnTo>
                <a:lnTo>
                  <a:pt x="2652268" y="777240"/>
                </a:lnTo>
                <a:lnTo>
                  <a:pt x="2681224" y="743839"/>
                </a:lnTo>
                <a:lnTo>
                  <a:pt x="2708148" y="713359"/>
                </a:lnTo>
                <a:lnTo>
                  <a:pt x="2729357" y="688340"/>
                </a:lnTo>
                <a:lnTo>
                  <a:pt x="2776728" y="631698"/>
                </a:lnTo>
                <a:lnTo>
                  <a:pt x="2847975" y="549275"/>
                </a:lnTo>
                <a:lnTo>
                  <a:pt x="2874010" y="519811"/>
                </a:lnTo>
                <a:lnTo>
                  <a:pt x="2898013" y="489966"/>
                </a:lnTo>
                <a:lnTo>
                  <a:pt x="2931033" y="451739"/>
                </a:lnTo>
                <a:lnTo>
                  <a:pt x="2967990" y="407924"/>
                </a:lnTo>
                <a:lnTo>
                  <a:pt x="3044571" y="319405"/>
                </a:lnTo>
                <a:lnTo>
                  <a:pt x="3102991" y="250698"/>
                </a:lnTo>
                <a:lnTo>
                  <a:pt x="3121914" y="229108"/>
                </a:lnTo>
                <a:lnTo>
                  <a:pt x="3159633" y="184023"/>
                </a:lnTo>
                <a:lnTo>
                  <a:pt x="3268472" y="57404"/>
                </a:lnTo>
                <a:lnTo>
                  <a:pt x="3302762" y="18034"/>
                </a:lnTo>
                <a:lnTo>
                  <a:pt x="3317621" y="0"/>
                </a:lnTo>
                <a:close/>
              </a:path>
            </a:pathLst>
          </a:custGeom>
          <a:solidFill>
            <a:srgbClr val="CD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553" y="375919"/>
            <a:ext cx="16026892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50454" y="3655314"/>
            <a:ext cx="8382634" cy="3734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Learn/Accessibility" TargetMode="External"/><Relationship Id="rId2" Type="http://schemas.openxmlformats.org/officeDocument/2006/relationships/hyperlink" Target="https://www.gob.pe/produce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xpressjs.com/e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4702555"/>
            <a:ext cx="555752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>
                <a:latin typeface="Trebuchet MS"/>
                <a:cs typeface="Trebuchet MS"/>
              </a:rPr>
              <a:t>Programación</a:t>
            </a:r>
            <a:r>
              <a:rPr sz="5200" spc="-370" dirty="0">
                <a:latin typeface="Trebuchet MS"/>
                <a:cs typeface="Trebuchet MS"/>
              </a:rPr>
              <a:t> </a:t>
            </a:r>
            <a:r>
              <a:rPr sz="5200" spc="-25" dirty="0">
                <a:latin typeface="Trebuchet MS"/>
                <a:cs typeface="Trebuchet MS"/>
              </a:rPr>
              <a:t>Web</a:t>
            </a:r>
            <a:endParaRPr sz="52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2420">
              <a:lnSpc>
                <a:spcPct val="100000"/>
              </a:lnSpc>
              <a:spcBef>
                <a:spcPts val="100"/>
              </a:spcBef>
            </a:pPr>
            <a:r>
              <a:rPr sz="8800" spc="-25" dirty="0">
                <a:solidFill>
                  <a:srgbClr val="FFFF00"/>
                </a:solidFill>
                <a:latin typeface="Calibri"/>
                <a:cs typeface="Calibri"/>
              </a:rPr>
              <a:t>UPN</a:t>
            </a:r>
            <a:endParaRPr sz="8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8300" y="4672329"/>
            <a:ext cx="8547100" cy="620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8110" marR="6350" indent="-2646045">
              <a:lnSpc>
                <a:spcPct val="100000"/>
              </a:lnSpc>
              <a:spcBef>
                <a:spcPts val="95"/>
              </a:spcBef>
            </a:pPr>
            <a:r>
              <a:rPr sz="3950" b="1" i="1" dirty="0">
                <a:solidFill>
                  <a:srgbClr val="FFFF00"/>
                </a:solidFill>
                <a:latin typeface="Arial"/>
                <a:cs typeface="Arial"/>
              </a:rPr>
              <a:t>Avance</a:t>
            </a:r>
            <a:r>
              <a:rPr sz="3950" b="1" i="1" spc="-18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950" b="1" i="1" dirty="0">
                <a:solidFill>
                  <a:srgbClr val="FFFF00"/>
                </a:solidFill>
                <a:latin typeface="Arial"/>
                <a:cs typeface="Arial"/>
              </a:rPr>
              <a:t>1:</a:t>
            </a:r>
            <a:r>
              <a:rPr sz="3950" b="1" i="1" spc="-20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950" b="1" i="1" dirty="0">
                <a:solidFill>
                  <a:srgbClr val="FFFF00"/>
                </a:solidFill>
                <a:latin typeface="Arial"/>
                <a:cs typeface="Arial"/>
              </a:rPr>
              <a:t>Py</a:t>
            </a:r>
            <a:r>
              <a:rPr sz="3950" b="1" i="1" spc="-19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950" b="1" i="1" spc="-105" dirty="0">
                <a:solidFill>
                  <a:srgbClr val="FFFF00"/>
                </a:solidFill>
                <a:latin typeface="Arial"/>
                <a:cs typeface="Arial"/>
              </a:rPr>
              <a:t>Programacion </a:t>
            </a:r>
            <a:r>
              <a:rPr sz="3950" b="1" i="1" spc="-25" dirty="0">
                <a:solidFill>
                  <a:srgbClr val="FFFF00"/>
                </a:solidFill>
                <a:latin typeface="Arial"/>
                <a:cs typeface="Arial"/>
              </a:rPr>
              <a:t>WEB</a:t>
            </a:r>
            <a:endParaRPr sz="3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7711" y="4342383"/>
            <a:ext cx="30657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latin typeface="Arial MT"/>
                <a:cs typeface="Arial MT"/>
              </a:rPr>
              <a:t>CONTENIDO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50454" y="2838957"/>
            <a:ext cx="5268595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50" dirty="0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sz="4350" spc="86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dirty="0">
                <a:solidFill>
                  <a:srgbClr val="FFFFFF"/>
                </a:solidFill>
                <a:latin typeface="Arial MT"/>
                <a:cs typeface="Arial MT"/>
              </a:rPr>
              <a:t>Titulo</a:t>
            </a:r>
            <a:r>
              <a:rPr sz="43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43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50" spc="-10" dirty="0">
                <a:solidFill>
                  <a:srgbClr val="FFFFFF"/>
                </a:solidFill>
                <a:latin typeface="Arial MT"/>
                <a:cs typeface="Arial MT"/>
              </a:rPr>
              <a:t>proyecto</a:t>
            </a:r>
            <a:endParaRPr sz="43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18159" indent="-74422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756285" algn="l"/>
              </a:tabLst>
            </a:pPr>
            <a:r>
              <a:rPr dirty="0"/>
              <a:t>Identificar</a:t>
            </a:r>
            <a:r>
              <a:rPr spc="-90" dirty="0"/>
              <a:t> </a:t>
            </a:r>
            <a:r>
              <a:rPr dirty="0"/>
              <a:t>el</a:t>
            </a:r>
            <a:r>
              <a:rPr spc="-110" dirty="0"/>
              <a:t> </a:t>
            </a:r>
            <a:r>
              <a:rPr spc="-10" dirty="0"/>
              <a:t>emprendimiento objetivo</a:t>
            </a:r>
          </a:p>
          <a:p>
            <a:pPr marL="756920" indent="-744220">
              <a:lnSpc>
                <a:spcPct val="100000"/>
              </a:lnSpc>
              <a:spcBef>
                <a:spcPts val="1100"/>
              </a:spcBef>
              <a:buAutoNum type="arabicPeriod" startAt="2"/>
              <a:tabLst>
                <a:tab pos="756920" algn="l"/>
              </a:tabLst>
            </a:pPr>
            <a:r>
              <a:rPr dirty="0"/>
              <a:t>Formulatcion</a:t>
            </a:r>
            <a:r>
              <a:rPr spc="-155" dirty="0"/>
              <a:t> </a:t>
            </a:r>
            <a:r>
              <a:rPr dirty="0"/>
              <a:t>del</a:t>
            </a:r>
            <a:r>
              <a:rPr spc="-165" dirty="0"/>
              <a:t> </a:t>
            </a:r>
            <a:r>
              <a:rPr spc="-10" dirty="0"/>
              <a:t>problema.</a:t>
            </a:r>
          </a:p>
          <a:p>
            <a:pPr marL="756920" indent="-744220">
              <a:lnSpc>
                <a:spcPct val="100000"/>
              </a:lnSpc>
              <a:spcBef>
                <a:spcPts val="1000"/>
              </a:spcBef>
              <a:buAutoNum type="arabicPeriod" startAt="2"/>
              <a:tabLst>
                <a:tab pos="756920" algn="l"/>
              </a:tabLst>
            </a:pPr>
            <a:r>
              <a:rPr dirty="0"/>
              <a:t>Objetivo</a:t>
            </a:r>
            <a:r>
              <a:rPr spc="-190" dirty="0"/>
              <a:t> </a:t>
            </a:r>
            <a:r>
              <a:rPr dirty="0"/>
              <a:t>General</a:t>
            </a:r>
            <a:r>
              <a:rPr spc="-155" dirty="0"/>
              <a:t> </a:t>
            </a:r>
            <a:r>
              <a:rPr dirty="0"/>
              <a:t>y</a:t>
            </a:r>
            <a:r>
              <a:rPr spc="-185" dirty="0"/>
              <a:t> </a:t>
            </a:r>
            <a:r>
              <a:rPr spc="-10" dirty="0"/>
              <a:t>específicos.</a:t>
            </a:r>
          </a:p>
          <a:p>
            <a:pPr marL="756920" indent="-744220">
              <a:lnSpc>
                <a:spcPct val="100000"/>
              </a:lnSpc>
              <a:spcBef>
                <a:spcPts val="1000"/>
              </a:spcBef>
              <a:buAutoNum type="arabicPeriod" startAt="2"/>
              <a:tabLst>
                <a:tab pos="756920" algn="l"/>
              </a:tabLst>
            </a:pPr>
            <a:r>
              <a:rPr dirty="0"/>
              <a:t>Referencias</a:t>
            </a:r>
            <a:r>
              <a:rPr spc="-215" dirty="0"/>
              <a:t> </a:t>
            </a:r>
            <a:r>
              <a:rPr spc="-10" dirty="0"/>
              <a:t>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765" y="0"/>
            <a:ext cx="18255615" cy="10287000"/>
            <a:chOff x="32765" y="0"/>
            <a:chExt cx="1825561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" y="0"/>
              <a:ext cx="952500" cy="10286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9149" y="0"/>
              <a:ext cx="17469485" cy="10287000"/>
            </a:xfrm>
            <a:custGeom>
              <a:avLst/>
              <a:gdLst/>
              <a:ahLst/>
              <a:cxnLst/>
              <a:rect l="l" t="t" r="r" b="b"/>
              <a:pathLst>
                <a:path w="17469485" h="10287000">
                  <a:moveTo>
                    <a:pt x="17469104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17469104" y="10287000"/>
                  </a:lnTo>
                  <a:lnTo>
                    <a:pt x="17469104" y="0"/>
                  </a:lnTo>
                  <a:close/>
                </a:path>
              </a:pathLst>
            </a:custGeom>
            <a:solidFill>
              <a:srgbClr val="032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200400" y="4533900"/>
            <a:ext cx="1447800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1.</a:t>
            </a:r>
            <a:r>
              <a:rPr spc="-170" dirty="0">
                <a:solidFill>
                  <a:srgbClr val="FFFF00"/>
                </a:solidFill>
              </a:rPr>
              <a:t> </a:t>
            </a:r>
            <a:r>
              <a:rPr lang="es-PE" b="1" dirty="0">
                <a:solidFill>
                  <a:srgbClr val="FFFF00"/>
                </a:solidFill>
              </a:rPr>
              <a:t>MC </a:t>
            </a:r>
            <a:r>
              <a:rPr lang="es-PE" b="1" dirty="0" err="1">
                <a:solidFill>
                  <a:srgbClr val="FFFF00"/>
                </a:solidFill>
              </a:rPr>
              <a:t>BackPack</a:t>
            </a:r>
            <a:r>
              <a:rPr lang="es-PE" b="1" dirty="0">
                <a:solidFill>
                  <a:srgbClr val="FFFF00"/>
                </a:solidFill>
              </a:rPr>
              <a:t> | Diseño, Comodidad y Estilo</a:t>
            </a:r>
            <a:endParaRPr b="1" spc="-1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F76C-042A-E222-293B-9AC77FCE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BCA7491-8438-C818-E529-E6FFDFC814E7}"/>
              </a:ext>
            </a:extLst>
          </p:cNvPr>
          <p:cNvGrpSpPr/>
          <p:nvPr/>
        </p:nvGrpSpPr>
        <p:grpSpPr>
          <a:xfrm>
            <a:off x="32765" y="0"/>
            <a:ext cx="18255615" cy="10287000"/>
            <a:chOff x="32765" y="0"/>
            <a:chExt cx="18255615" cy="102870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0674E7C-16C8-593E-49AC-50580893999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" y="0"/>
              <a:ext cx="952500" cy="10286998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15C34B7-4066-7819-9B47-F21A46E4E57E}"/>
                </a:ext>
              </a:extLst>
            </p:cNvPr>
            <p:cNvSpPr/>
            <p:nvPr/>
          </p:nvSpPr>
          <p:spPr>
            <a:xfrm>
              <a:off x="819149" y="0"/>
              <a:ext cx="17469485" cy="10287000"/>
            </a:xfrm>
            <a:custGeom>
              <a:avLst/>
              <a:gdLst/>
              <a:ahLst/>
              <a:cxnLst/>
              <a:rect l="l" t="t" r="r" b="b"/>
              <a:pathLst>
                <a:path w="17469485" h="10287000">
                  <a:moveTo>
                    <a:pt x="17469104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17469104" y="10287000"/>
                  </a:lnTo>
                  <a:lnTo>
                    <a:pt x="17469104" y="0"/>
                  </a:lnTo>
                  <a:close/>
                </a:path>
              </a:pathLst>
            </a:custGeom>
            <a:solidFill>
              <a:srgbClr val="032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8141EF97-C954-2CD8-9D72-920DF7F64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2736430"/>
            <a:ext cx="1447800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b="1" spc="-10" dirty="0">
                <a:solidFill>
                  <a:srgbClr val="FFFF00"/>
                </a:solidFill>
              </a:rPr>
              <a:t>Integrantes:</a:t>
            </a:r>
            <a:br>
              <a:rPr lang="es-PE" b="1" spc="-10" dirty="0">
                <a:solidFill>
                  <a:srgbClr val="FFFF00"/>
                </a:solidFill>
              </a:rPr>
            </a:br>
            <a:r>
              <a:rPr lang="es-PE" b="1" spc="-10" dirty="0">
                <a:solidFill>
                  <a:srgbClr val="FFFF00"/>
                </a:solidFill>
              </a:rPr>
              <a:t>- Armas Camones, Jeremy Geraldo</a:t>
            </a:r>
            <a:br>
              <a:rPr lang="es-PE" b="1" spc="-10" dirty="0">
                <a:solidFill>
                  <a:srgbClr val="FFFF00"/>
                </a:solidFill>
              </a:rPr>
            </a:br>
            <a:r>
              <a:rPr lang="es-PE" b="1" spc="-10" dirty="0">
                <a:solidFill>
                  <a:srgbClr val="FFFF00"/>
                </a:solidFill>
              </a:rPr>
              <a:t>- Candiotti Simeon, </a:t>
            </a:r>
            <a:r>
              <a:rPr lang="es-PE" b="1" spc="-10" dirty="0" err="1">
                <a:solidFill>
                  <a:srgbClr val="FFFF00"/>
                </a:solidFill>
              </a:rPr>
              <a:t>Monica</a:t>
            </a:r>
            <a:r>
              <a:rPr lang="es-PE" b="1" spc="-10" dirty="0">
                <a:solidFill>
                  <a:srgbClr val="FFFF00"/>
                </a:solidFill>
              </a:rPr>
              <a:t> Sofia</a:t>
            </a:r>
            <a:br>
              <a:rPr lang="es-PE" b="1" spc="-10" dirty="0">
                <a:solidFill>
                  <a:srgbClr val="FFFF00"/>
                </a:solidFill>
              </a:rPr>
            </a:br>
            <a:r>
              <a:rPr lang="es-PE" b="1" spc="-10" dirty="0">
                <a:solidFill>
                  <a:srgbClr val="FFFF00"/>
                </a:solidFill>
              </a:rPr>
              <a:t>- Castillo Flores, Pablo Joel</a:t>
            </a:r>
            <a:br>
              <a:rPr lang="es-PE" b="1" spc="-10" dirty="0">
                <a:solidFill>
                  <a:srgbClr val="FFFF00"/>
                </a:solidFill>
              </a:rPr>
            </a:br>
            <a:r>
              <a:rPr lang="es-PE" b="1" spc="-10" dirty="0">
                <a:solidFill>
                  <a:srgbClr val="FFFF00"/>
                </a:solidFill>
              </a:rPr>
              <a:t>- Gaitan Gonzales, </a:t>
            </a:r>
            <a:r>
              <a:rPr lang="es-PE" b="1" spc="-10" dirty="0" err="1">
                <a:solidFill>
                  <a:srgbClr val="FFFF00"/>
                </a:solidFill>
              </a:rPr>
              <a:t>Geradth</a:t>
            </a:r>
            <a:r>
              <a:rPr lang="es-PE" b="1" spc="-10" dirty="0">
                <a:solidFill>
                  <a:srgbClr val="FFFF00"/>
                </a:solidFill>
              </a:rPr>
              <a:t> Humberto</a:t>
            </a:r>
            <a:br>
              <a:rPr lang="es-PE" b="1" spc="-10" dirty="0">
                <a:solidFill>
                  <a:srgbClr val="FFFF00"/>
                </a:solidFill>
              </a:rPr>
            </a:br>
            <a:r>
              <a:rPr lang="es-PE" b="1" spc="-10" dirty="0">
                <a:solidFill>
                  <a:srgbClr val="FFFF00"/>
                </a:solidFill>
              </a:rPr>
              <a:t>- </a:t>
            </a:r>
            <a:r>
              <a:rPr lang="es-PE" b="1" spc="-10" dirty="0" err="1">
                <a:solidFill>
                  <a:srgbClr val="FFFF00"/>
                </a:solidFill>
              </a:rPr>
              <a:t>Huisa</a:t>
            </a:r>
            <a:r>
              <a:rPr lang="es-PE" b="1" spc="-10" dirty="0">
                <a:solidFill>
                  <a:srgbClr val="FFFF00"/>
                </a:solidFill>
              </a:rPr>
              <a:t> Valle, Justhin Christofher</a:t>
            </a:r>
            <a:endParaRPr b="1" spc="-1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1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2.</a:t>
            </a:r>
            <a:r>
              <a:rPr u="heavy" spc="-1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Identificar</a:t>
            </a:r>
            <a:r>
              <a:rPr u="heavy" spc="-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el</a:t>
            </a:r>
            <a:r>
              <a:rPr u="heavy"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emprendimiento</a:t>
            </a:r>
            <a:r>
              <a:rPr u="heavy" spc="-8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objetivo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7CE962-224A-05F9-64E4-390A9FC96902}"/>
              </a:ext>
            </a:extLst>
          </p:cNvPr>
          <p:cNvSpPr txBox="1"/>
          <p:nvPr/>
        </p:nvSpPr>
        <p:spPr>
          <a:xfrm>
            <a:off x="1295400" y="2019300"/>
            <a:ext cx="12344400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proyecto se enfoca en 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BackPack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 negocio de Lima Metropolitana dedicado a la confección de mochilas nacionales de alta resistencia y a la venta de productos importados seleccionados. El emprendimiento opera bajo un 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comercial itinerante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no posee un local físico fijo, por lo que su canal de interacción y ventas depende enteramente de los cronogramas de las ferias vecinales organizadas por las municipalidades.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30553" y="375919"/>
            <a:ext cx="16026892" cy="1136720"/>
          </a:xfrm>
          <a:prstGeom prst="rect">
            <a:avLst/>
          </a:prstGeom>
        </p:spPr>
        <p:txBody>
          <a:bodyPr vert="horz" wrap="square" lIns="0" tIns="3332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04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3.</a:t>
            </a:r>
            <a:r>
              <a:rPr u="heavy" spc="-1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Definir</a:t>
            </a:r>
            <a:r>
              <a:rPr u="heavy" spc="-4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y</a:t>
            </a:r>
            <a:r>
              <a:rPr u="heavy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formular</a:t>
            </a:r>
            <a:r>
              <a:rPr u="heavy" spc="-7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 err="1">
                <a:uFill>
                  <a:solidFill>
                    <a:srgbClr val="000000"/>
                  </a:solidFill>
                </a:uFill>
              </a:rPr>
              <a:t>el</a:t>
            </a:r>
            <a:r>
              <a:rPr lang="es-PE" u="heavy" spc="-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 err="1">
                <a:uFill>
                  <a:solidFill>
                    <a:srgbClr val="000000"/>
                  </a:solidFill>
                </a:uFill>
              </a:rPr>
              <a:t>problema</a:t>
            </a:r>
            <a:endParaRPr u="heavy" spc="-10" dirty="0">
              <a:uFill>
                <a:solidFill>
                  <a:srgbClr val="000000"/>
                </a:solidFill>
              </a:u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6E4889-A012-5356-730C-495A57057AAC}"/>
              </a:ext>
            </a:extLst>
          </p:cNvPr>
          <p:cNvSpPr txBox="1"/>
          <p:nvPr/>
        </p:nvSpPr>
        <p:spPr>
          <a:xfrm>
            <a:off x="1371600" y="2019300"/>
            <a:ext cx="9144000" cy="2222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carencia de una infraestructura digital propia e integrada para el emprendimiento itinerante </a:t>
            </a:r>
            <a:r>
              <a:rPr lang="es-P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</a:t>
            </a:r>
            <a:r>
              <a:rPr lang="es-P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BackPack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restringe su mercado a la presencialidad temporal, provocando una fuga sistemática de clientes potenciales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post-feria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 invisibilidad de su stock real y una alta vulnerabilidad comercial ante imprevistos en los espacios físicos municipales.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DC37FB-E75C-5B03-781C-AA8357E18E00}"/>
              </a:ext>
            </a:extLst>
          </p:cNvPr>
          <p:cNvSpPr txBox="1"/>
          <p:nvPr/>
        </p:nvSpPr>
        <p:spPr>
          <a:xfrm>
            <a:off x="1371600" y="5143500"/>
            <a:ext cx="9144000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¿De qué manera el desarrollo e implementación de una aplicación web responsiva, basada en una arquitectura cliente-servidor (Node.js, Express.js y persistencia en JSON), permitirá sistematizar la exhibición de catálogos, la difusión cronológica de ubicaciones y la gestión de pedidos para mitigar la invisibilidad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post-feria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emprendimiento itinerante </a:t>
            </a:r>
            <a:r>
              <a:rPr lang="es-P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</a:t>
            </a:r>
            <a:r>
              <a:rPr lang="es-P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BackPack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Lima Metropolitana?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BD1326-98ED-CEBF-898C-49E762F0B8A3}"/>
              </a:ext>
            </a:extLst>
          </p:cNvPr>
          <p:cNvSpPr txBox="1"/>
          <p:nvPr/>
        </p:nvSpPr>
        <p:spPr>
          <a:xfrm>
            <a:off x="1398896" y="473414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Formulación del Problema</a:t>
            </a:r>
            <a:r>
              <a:rPr lang="es-PE" dirty="0"/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0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4.</a:t>
            </a:r>
            <a:r>
              <a:rPr u="heavy" spc="-1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Objetivo</a:t>
            </a:r>
            <a:r>
              <a:rPr u="heavy" spc="-1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General</a:t>
            </a:r>
            <a:r>
              <a:rPr u="heavy" spc="-1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y</a:t>
            </a:r>
            <a:r>
              <a:rPr u="heavy" spc="-1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específicos.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0B101C-1110-1993-5340-B28CD4B8E179}"/>
              </a:ext>
            </a:extLst>
          </p:cNvPr>
          <p:cNvSpPr txBox="1"/>
          <p:nvPr/>
        </p:nvSpPr>
        <p:spPr>
          <a:xfrm>
            <a:off x="4571999" y="3848100"/>
            <a:ext cx="914400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Desarrollar e implementar una aplicación web funcional de arquitectura cliente-servidor mediante un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front-end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responsivo (HTML5, CSS3, JavaScript y Bootstrap) y un back-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en Node.js con Express.js y persistencia en archivos JSON, con el fin de sistematizar los procesos de promoción, exhibición de catálogos y difusión cronológica de ferias itinerantes para un emprendimiento local de confección e importación de mochilas en Lima Metropolitana, garantizando la accesibilidad digital y un rendimiento óptimo en dispositivos móviles de gama media.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A3F6CE-76E8-3A32-77BC-9BFB2C7C9B7B}"/>
              </a:ext>
            </a:extLst>
          </p:cNvPr>
          <p:cNvSpPr txBox="1"/>
          <p:nvPr/>
        </p:nvSpPr>
        <p:spPr>
          <a:xfrm>
            <a:off x="4571999" y="3162300"/>
            <a:ext cx="9144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OBJETIVO GENERAL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E2BFD99-A1DA-0777-35FF-AAEEAFF34B88}"/>
              </a:ext>
            </a:extLst>
          </p:cNvPr>
          <p:cNvSpPr txBox="1"/>
          <p:nvPr/>
        </p:nvSpPr>
        <p:spPr>
          <a:xfrm>
            <a:off x="4572000" y="1104900"/>
            <a:ext cx="9144000" cy="862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Objetivo 1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(Funcionalidad Front-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Diseñar e implementar una interfaz web interactiva y responsiva (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mobile-first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utilizando HTML5, CSS3 y Bootstrap 5, que reduzca la fricción de navegación y cargue eficientemente en dispositivos móviles de gama media.  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Objetivo 2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(Módulo de Geolocalización e Información)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Desarrollar un apartado dinámico y cronológico para la gestión de ferias que centralice las ubicaciones, fechas y enlaces de Google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Maps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logrando que el 100% de los usuarios recurrentes puedan localizar el negocio de manera exacta en cualquier momento.  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Objetivo 3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(Persistencia y Lógica Back-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Configurar un servidor web funcional empleando Node.js y Express.js, estructurando rutas GET para servir el catálogo de mochilas y rutas POST para capturar y almacenar las solicitudes de compra en archivos JSON sin depender de sistemas de bases de datos complejos.  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Objetivo 4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(Calidad y Accesibilidad)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Garantizar un índice de accesibilidad y rendimiento web superior a 80 puntos en la evaluación de la herramienta Lighthouse (o WAVE), asegurando tipografías legibles, alto contraste y una navegación estructurada apta para usuarios con diferentes niveles de alfabetización digital. 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81C9FB-8631-2A6B-4B96-771807ECC891}"/>
              </a:ext>
            </a:extLst>
          </p:cNvPr>
          <p:cNvSpPr txBox="1"/>
          <p:nvPr/>
        </p:nvSpPr>
        <p:spPr>
          <a:xfrm>
            <a:off x="4560627" y="419100"/>
            <a:ext cx="9144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OBJETIVO ESPECÍFICOS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084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FDD540C1-DFE3-8DB8-DA47-F2943CB07D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857500"/>
            <a:ext cx="11200692" cy="57343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2A86620-6CE0-F89B-1BA5-D781A557E015}"/>
              </a:ext>
            </a:extLst>
          </p:cNvPr>
          <p:cNvSpPr txBox="1"/>
          <p:nvPr/>
        </p:nvSpPr>
        <p:spPr>
          <a:xfrm>
            <a:off x="4343400" y="1866900"/>
            <a:ext cx="9144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Diagrama Detallado de la Arquitectura Cliente – Servidor</a:t>
            </a: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1683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B6C29272-C4B8-C090-D15E-910FD7204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701607"/>
            <a:ext cx="13821476" cy="526129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F4248C-2A76-99F7-6245-F4DF5C2ACF07}"/>
              </a:ext>
            </a:extLst>
          </p:cNvPr>
          <p:cNvSpPr txBox="1"/>
          <p:nvPr/>
        </p:nvSpPr>
        <p:spPr>
          <a:xfrm>
            <a:off x="4343400" y="1866900"/>
            <a:ext cx="9144000" cy="56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</a:pPr>
            <a:r>
              <a:rPr lang="es-P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Flujo de Navegación Coherente (</a:t>
            </a:r>
            <a:r>
              <a:rPr lang="es-PE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s-PE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Flow)</a:t>
            </a: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7339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E4E8CAEA-5A02-0D5E-C9E9-C3639D9533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"/>
          <a:stretch>
            <a:fillRect/>
          </a:stretch>
        </p:blipFill>
        <p:spPr bwMode="auto">
          <a:xfrm>
            <a:off x="2895600" y="711349"/>
            <a:ext cx="5316220" cy="88643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0EED646-5B9F-F706-573F-57B08572CC86}"/>
              </a:ext>
            </a:extLst>
          </p:cNvPr>
          <p:cNvSpPr txBox="1"/>
          <p:nvPr/>
        </p:nvSpPr>
        <p:spPr>
          <a:xfrm>
            <a:off x="9753600" y="4381500"/>
            <a:ext cx="6019800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Diseño del Catálogo para ser aplicado en el menú (Barra para búsqueda rápida e imágenes)</a:t>
            </a:r>
          </a:p>
        </p:txBody>
      </p:sp>
    </p:spTree>
    <p:extLst>
      <p:ext uri="{BB962C8B-B14F-4D97-AF65-F5344CB8AC3E}">
        <p14:creationId xmlns:p14="http://schemas.microsoft.com/office/powerpoint/2010/main" val="80843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FA516C88-F363-9D50-FD00-0A04DB28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60257"/>
            <a:ext cx="3862070" cy="616648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4DE2F54-2F1B-696E-48F0-39B9FE680F98}"/>
              </a:ext>
            </a:extLst>
          </p:cNvPr>
          <p:cNvSpPr txBox="1"/>
          <p:nvPr/>
        </p:nvSpPr>
        <p:spPr>
          <a:xfrm>
            <a:off x="7567932" y="4581550"/>
            <a:ext cx="9144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Diseño del Detalle de Mochila, la imagen y descripción (características, material, etc.)</a:t>
            </a:r>
          </a:p>
        </p:txBody>
      </p:sp>
    </p:spTree>
    <p:extLst>
      <p:ext uri="{BB962C8B-B14F-4D97-AF65-F5344CB8AC3E}">
        <p14:creationId xmlns:p14="http://schemas.microsoft.com/office/powerpoint/2010/main" val="157007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137943C4-19CD-26A5-C57B-2B7027CBC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207895"/>
            <a:ext cx="3428365" cy="587121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5F26C55-3F4F-B58A-450C-DC2638FE1690}"/>
              </a:ext>
            </a:extLst>
          </p:cNvPr>
          <p:cNvSpPr txBox="1"/>
          <p:nvPr/>
        </p:nvSpPr>
        <p:spPr>
          <a:xfrm>
            <a:off x="7543800" y="4585526"/>
            <a:ext cx="9144000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Diseño de las Ferias y Mapa, donde se usará Google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Maps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 se dirá donde esta ubicado con una referencia o especificación del lugar.</a:t>
            </a:r>
          </a:p>
        </p:txBody>
      </p:sp>
    </p:spTree>
    <p:extLst>
      <p:ext uri="{BB962C8B-B14F-4D97-AF65-F5344CB8AC3E}">
        <p14:creationId xmlns:p14="http://schemas.microsoft.com/office/powerpoint/2010/main" val="189897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FFB4703B-485B-5295-B7C0-6ECFC1EBE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400300"/>
            <a:ext cx="3582670" cy="56349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A7652F5-6FB0-F8DF-D691-5CC3D0C44C48}"/>
              </a:ext>
            </a:extLst>
          </p:cNvPr>
          <p:cNvSpPr txBox="1"/>
          <p:nvPr/>
        </p:nvSpPr>
        <p:spPr>
          <a:xfrm>
            <a:off x="7390132" y="4659821"/>
            <a:ext cx="9144000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Diseño de Reserva y Contacto, muestra los contactos en donde iría el enlace a WhatsApp, número y correo, para cualquier contacto posible.</a:t>
            </a:r>
            <a:endParaRPr lang="es-P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81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03D9550-DF5D-F2D2-3A79-285689629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181100"/>
            <a:ext cx="5486400" cy="772570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51CD642-D4BD-B4B2-677D-48B8E6B80509}"/>
              </a:ext>
            </a:extLst>
          </p:cNvPr>
          <p:cNvSpPr txBox="1"/>
          <p:nvPr/>
        </p:nvSpPr>
        <p:spPr>
          <a:xfrm>
            <a:off x="7924800" y="4485977"/>
            <a:ext cx="9144000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" indent="450215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Diseño para el Panel de Administrador, en el que se controlará el Inventario y las Nuevas Ferias que desee añadir o remover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s-P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417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1409700"/>
            <a:ext cx="14935200" cy="139065"/>
          </a:xfrm>
          <a:custGeom>
            <a:avLst/>
            <a:gdLst/>
            <a:ahLst/>
            <a:cxnLst/>
            <a:rect l="l" t="t" r="r" b="b"/>
            <a:pathLst>
              <a:path w="14935200" h="139065">
                <a:moveTo>
                  <a:pt x="14935073" y="0"/>
                </a:moveTo>
                <a:lnTo>
                  <a:pt x="0" y="44196"/>
                </a:lnTo>
                <a:lnTo>
                  <a:pt x="88" y="139065"/>
                </a:lnTo>
                <a:lnTo>
                  <a:pt x="14935073" y="94869"/>
                </a:lnTo>
                <a:lnTo>
                  <a:pt x="149350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47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200" dirty="0"/>
              <a:t> </a:t>
            </a:r>
            <a:r>
              <a:rPr dirty="0"/>
              <a:t>Referencias</a:t>
            </a:r>
            <a:r>
              <a:rPr spc="-150" dirty="0"/>
              <a:t> </a:t>
            </a:r>
            <a:r>
              <a:rPr spc="-10" dirty="0"/>
              <a:t>Bibliograficas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AE3338-8298-1EC2-3599-BDB9115029F9}"/>
              </a:ext>
            </a:extLst>
          </p:cNvPr>
          <p:cNvSpPr txBox="1"/>
          <p:nvPr/>
        </p:nvSpPr>
        <p:spPr>
          <a:xfrm>
            <a:off x="1143000" y="2783110"/>
            <a:ext cx="914400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Instituto Nacional de Estadística e Informática. (2023). </a:t>
            </a:r>
            <a:r>
              <a:rPr lang="es-PE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Encuesta Nacional de Mercados de Abastos y Comercio Local en el Perú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200000"/>
              </a:lnSpc>
              <a:buNone/>
            </a:pP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Ministerio de la Producción. (2024). </a:t>
            </a:r>
            <a:r>
              <a:rPr lang="es-PE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Gobierno del Perú. 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https://www.gob.pe/produce</a:t>
            </a:r>
            <a:endParaRPr lang="es-P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None/>
            </a:pP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Mozilla Developer Network. (2024). </a:t>
            </a:r>
            <a:r>
              <a:rPr lang="es-PE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Fundamentos de Accesibilidad Web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MDN Web Docs. 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https://developer.mozilla.org/es/docs/Learn/Accessibility</a:t>
            </a:r>
            <a:endParaRPr lang="es-P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None/>
            </a:pP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r>
              <a:rPr lang="es-P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(2024). </a:t>
            </a:r>
            <a:r>
              <a:rPr lang="es-PE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Documentación oficial de Express.js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OpenJS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P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https://expressjs.com/es/</a:t>
            </a:r>
            <a:endParaRPr lang="es-P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1" y="1302258"/>
            <a:ext cx="18268188" cy="166649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561082"/>
            <a:ext cx="18288000" cy="6993890"/>
            <a:chOff x="0" y="2561082"/>
            <a:chExt cx="18288000" cy="699389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887461"/>
              <a:ext cx="18204179" cy="1667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561082"/>
              <a:ext cx="18288000" cy="5684520"/>
            </a:xfrm>
            <a:custGeom>
              <a:avLst/>
              <a:gdLst/>
              <a:ahLst/>
              <a:cxnLst/>
              <a:rect l="l" t="t" r="r" b="b"/>
              <a:pathLst>
                <a:path w="18288000" h="5684520">
                  <a:moveTo>
                    <a:pt x="18288000" y="0"/>
                  </a:moveTo>
                  <a:lnTo>
                    <a:pt x="0" y="0"/>
                  </a:lnTo>
                  <a:lnTo>
                    <a:pt x="0" y="5684520"/>
                  </a:lnTo>
                  <a:lnTo>
                    <a:pt x="18288000" y="568452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32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154676" y="4138676"/>
            <a:ext cx="7232650" cy="171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50" b="1" dirty="0">
                <a:solidFill>
                  <a:srgbClr val="FFFFFF"/>
                </a:solidFill>
                <a:latin typeface="Trebuchet MS"/>
                <a:cs typeface="Trebuchet MS"/>
              </a:rPr>
              <a:t>¡</a:t>
            </a:r>
            <a:r>
              <a:rPr sz="110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50" b="1" spc="160" dirty="0">
                <a:solidFill>
                  <a:srgbClr val="FFFFFF"/>
                </a:solidFill>
                <a:latin typeface="Trebuchet MS"/>
                <a:cs typeface="Trebuchet MS"/>
              </a:rPr>
              <a:t>GRACIAS!</a:t>
            </a:r>
            <a:endParaRPr sz="1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819</Words>
  <Application>Microsoft Office PowerPoint</Application>
  <PresentationFormat>Personalizado</PresentationFormat>
  <Paragraphs>38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Arial MT</vt:lpstr>
      <vt:lpstr>Calibri</vt:lpstr>
      <vt:lpstr>Symbol</vt:lpstr>
      <vt:lpstr>Times New Roman</vt:lpstr>
      <vt:lpstr>Trebuchet MS</vt:lpstr>
      <vt:lpstr>Office Theme</vt:lpstr>
      <vt:lpstr>UPN</vt:lpstr>
      <vt:lpstr>1. Titulo del proyecto</vt:lpstr>
      <vt:lpstr>1. MC BackPack | Diseño, Comodidad y Estilo</vt:lpstr>
      <vt:lpstr>Integrantes: - Armas Camones, Jeremy Geraldo - Candiotti Simeon, Monica Sofia - Castillo Flores, Pablo Joel - Gaitan Gonzales, Geradth Humberto - Huisa Valle, Justhin Christofher</vt:lpstr>
      <vt:lpstr> 2. Identificar el emprendimiento objetivo</vt:lpstr>
      <vt:lpstr> 3. Definir y formular el problema</vt:lpstr>
      <vt:lpstr> 4. Objetivo General y específicos.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9. Referencias Bibliograficas</vt:lpstr>
      <vt:lpstr>¡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Trabajo Final de Grado Proyecto Profesional Moderno Azul</dc:title>
  <dc:creator>Mathias Rodriguez Pizan</dc:creator>
  <cp:keywords>DAHGxbU4Dkk,BAGoRqtth4Y,0</cp:keywords>
  <cp:lastModifiedBy>Juan C Candiotti</cp:lastModifiedBy>
  <cp:revision>3</cp:revision>
  <dcterms:created xsi:type="dcterms:W3CDTF">2026-06-19T20:20:32Z</dcterms:created>
  <dcterms:modified xsi:type="dcterms:W3CDTF">2026-06-19T22:16:06Z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