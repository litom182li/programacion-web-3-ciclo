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65" r:id="rId5"/>
    <p:sldId id="259" r:id="rId6"/>
    <p:sldId id="260" r:id="rId7"/>
    <p:sldId id="261" r:id="rId8"/>
    <p:sldId id="264" r:id="rId9"/>
    <p:sldId id="262" r:id="rId10"/>
    <p:sldId id="263" r:id="rId11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70" d="100"/>
          <a:sy n="70" d="100"/>
        </p:scale>
        <p:origin x="774" y="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35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12585" y="0"/>
            <a:ext cx="952500" cy="1028699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6998969" y="0"/>
            <a:ext cx="11289665" cy="10287000"/>
          </a:xfrm>
          <a:custGeom>
            <a:avLst/>
            <a:gdLst/>
            <a:ahLst/>
            <a:cxnLst/>
            <a:rect l="l" t="t" r="r" b="b"/>
            <a:pathLst>
              <a:path w="11289665" h="10287000">
                <a:moveTo>
                  <a:pt x="11289411" y="0"/>
                </a:moveTo>
                <a:lnTo>
                  <a:pt x="0" y="0"/>
                </a:lnTo>
                <a:lnTo>
                  <a:pt x="0" y="10287000"/>
                </a:lnTo>
                <a:lnTo>
                  <a:pt x="11289411" y="10287000"/>
                </a:lnTo>
                <a:lnTo>
                  <a:pt x="11289411" y="0"/>
                </a:lnTo>
                <a:close/>
              </a:path>
            </a:pathLst>
          </a:custGeom>
          <a:solidFill>
            <a:srgbClr val="032C6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7000494" y="0"/>
            <a:ext cx="3317875" cy="3877310"/>
          </a:xfrm>
          <a:custGeom>
            <a:avLst/>
            <a:gdLst/>
            <a:ahLst/>
            <a:cxnLst/>
            <a:rect l="l" t="t" r="r" b="b"/>
            <a:pathLst>
              <a:path w="3317875" h="3877310">
                <a:moveTo>
                  <a:pt x="439928" y="0"/>
                </a:moveTo>
                <a:lnTo>
                  <a:pt x="254" y="0"/>
                </a:lnTo>
                <a:lnTo>
                  <a:pt x="254" y="524129"/>
                </a:lnTo>
                <a:lnTo>
                  <a:pt x="8763" y="526034"/>
                </a:lnTo>
                <a:lnTo>
                  <a:pt x="12446" y="519303"/>
                </a:lnTo>
                <a:lnTo>
                  <a:pt x="59436" y="463296"/>
                </a:lnTo>
                <a:lnTo>
                  <a:pt x="80645" y="437642"/>
                </a:lnTo>
                <a:lnTo>
                  <a:pt x="172339" y="325374"/>
                </a:lnTo>
                <a:lnTo>
                  <a:pt x="312674" y="154305"/>
                </a:lnTo>
                <a:lnTo>
                  <a:pt x="439928" y="0"/>
                </a:lnTo>
                <a:close/>
              </a:path>
              <a:path w="3317875" h="3877310">
                <a:moveTo>
                  <a:pt x="1363599" y="0"/>
                </a:moveTo>
                <a:lnTo>
                  <a:pt x="679831" y="0"/>
                </a:lnTo>
                <a:lnTo>
                  <a:pt x="608330" y="79756"/>
                </a:lnTo>
                <a:lnTo>
                  <a:pt x="381381" y="337566"/>
                </a:lnTo>
                <a:lnTo>
                  <a:pt x="99441" y="654939"/>
                </a:lnTo>
                <a:lnTo>
                  <a:pt x="254" y="767969"/>
                </a:lnTo>
                <a:lnTo>
                  <a:pt x="254" y="1536700"/>
                </a:lnTo>
                <a:lnTo>
                  <a:pt x="9144" y="1541399"/>
                </a:lnTo>
                <a:lnTo>
                  <a:pt x="11938" y="1533271"/>
                </a:lnTo>
                <a:lnTo>
                  <a:pt x="16256" y="1528953"/>
                </a:lnTo>
                <a:lnTo>
                  <a:pt x="38354" y="1505585"/>
                </a:lnTo>
                <a:lnTo>
                  <a:pt x="59436" y="1481328"/>
                </a:lnTo>
                <a:lnTo>
                  <a:pt x="80264" y="1456817"/>
                </a:lnTo>
                <a:lnTo>
                  <a:pt x="131572" y="1399540"/>
                </a:lnTo>
                <a:lnTo>
                  <a:pt x="300482" y="1207008"/>
                </a:lnTo>
                <a:lnTo>
                  <a:pt x="351790" y="1149604"/>
                </a:lnTo>
                <a:lnTo>
                  <a:pt x="399542" y="1094867"/>
                </a:lnTo>
                <a:lnTo>
                  <a:pt x="456057" y="1030859"/>
                </a:lnTo>
                <a:lnTo>
                  <a:pt x="520700" y="957072"/>
                </a:lnTo>
                <a:lnTo>
                  <a:pt x="577723" y="892810"/>
                </a:lnTo>
                <a:lnTo>
                  <a:pt x="626110" y="837565"/>
                </a:lnTo>
                <a:lnTo>
                  <a:pt x="807847" y="631317"/>
                </a:lnTo>
                <a:lnTo>
                  <a:pt x="867283" y="563245"/>
                </a:lnTo>
                <a:lnTo>
                  <a:pt x="1152906" y="239014"/>
                </a:lnTo>
                <a:lnTo>
                  <a:pt x="1217041" y="165862"/>
                </a:lnTo>
                <a:lnTo>
                  <a:pt x="1274191" y="101346"/>
                </a:lnTo>
                <a:lnTo>
                  <a:pt x="1323721" y="44704"/>
                </a:lnTo>
                <a:lnTo>
                  <a:pt x="1363599" y="0"/>
                </a:lnTo>
                <a:close/>
              </a:path>
              <a:path w="3317875" h="3877310">
                <a:moveTo>
                  <a:pt x="2313178" y="0"/>
                </a:moveTo>
                <a:lnTo>
                  <a:pt x="1655953" y="0"/>
                </a:lnTo>
                <a:lnTo>
                  <a:pt x="1529461" y="153416"/>
                </a:lnTo>
                <a:lnTo>
                  <a:pt x="1333881" y="389763"/>
                </a:lnTo>
                <a:lnTo>
                  <a:pt x="1268095" y="468630"/>
                </a:lnTo>
                <a:lnTo>
                  <a:pt x="1003935" y="788416"/>
                </a:lnTo>
                <a:lnTo>
                  <a:pt x="905002" y="908812"/>
                </a:lnTo>
                <a:lnTo>
                  <a:pt x="840486" y="986409"/>
                </a:lnTo>
                <a:lnTo>
                  <a:pt x="745236" y="1101979"/>
                </a:lnTo>
                <a:lnTo>
                  <a:pt x="590169" y="1289431"/>
                </a:lnTo>
                <a:lnTo>
                  <a:pt x="529082" y="1362964"/>
                </a:lnTo>
                <a:lnTo>
                  <a:pt x="467741" y="1436370"/>
                </a:lnTo>
                <a:lnTo>
                  <a:pt x="444881" y="1464183"/>
                </a:lnTo>
                <a:lnTo>
                  <a:pt x="399796" y="1520190"/>
                </a:lnTo>
                <a:lnTo>
                  <a:pt x="376936" y="1547876"/>
                </a:lnTo>
                <a:lnTo>
                  <a:pt x="346075" y="1584706"/>
                </a:lnTo>
                <a:lnTo>
                  <a:pt x="192913" y="1769745"/>
                </a:lnTo>
                <a:lnTo>
                  <a:pt x="116459" y="1861058"/>
                </a:lnTo>
                <a:lnTo>
                  <a:pt x="35179" y="1959483"/>
                </a:lnTo>
                <a:lnTo>
                  <a:pt x="17272" y="1981454"/>
                </a:lnTo>
                <a:lnTo>
                  <a:pt x="254" y="2004060"/>
                </a:lnTo>
                <a:lnTo>
                  <a:pt x="254" y="2792984"/>
                </a:lnTo>
                <a:lnTo>
                  <a:pt x="8509" y="2797556"/>
                </a:lnTo>
                <a:lnTo>
                  <a:pt x="11049" y="2789682"/>
                </a:lnTo>
                <a:lnTo>
                  <a:pt x="14986" y="2785872"/>
                </a:lnTo>
                <a:lnTo>
                  <a:pt x="32639" y="2767076"/>
                </a:lnTo>
                <a:lnTo>
                  <a:pt x="49149" y="2747264"/>
                </a:lnTo>
                <a:lnTo>
                  <a:pt x="65278" y="2727198"/>
                </a:lnTo>
                <a:lnTo>
                  <a:pt x="81661" y="2707259"/>
                </a:lnTo>
                <a:lnTo>
                  <a:pt x="117348" y="2664460"/>
                </a:lnTo>
                <a:lnTo>
                  <a:pt x="421640" y="2294382"/>
                </a:lnTo>
                <a:lnTo>
                  <a:pt x="579374" y="2102993"/>
                </a:lnTo>
                <a:lnTo>
                  <a:pt x="609727" y="2065655"/>
                </a:lnTo>
                <a:lnTo>
                  <a:pt x="625094" y="2047113"/>
                </a:lnTo>
                <a:lnTo>
                  <a:pt x="672846" y="1990598"/>
                </a:lnTo>
                <a:lnTo>
                  <a:pt x="767334" y="1874393"/>
                </a:lnTo>
                <a:lnTo>
                  <a:pt x="859155" y="1762633"/>
                </a:lnTo>
                <a:lnTo>
                  <a:pt x="1084580" y="1490091"/>
                </a:lnTo>
                <a:lnTo>
                  <a:pt x="1146175" y="1414780"/>
                </a:lnTo>
                <a:lnTo>
                  <a:pt x="1210437" y="1337310"/>
                </a:lnTo>
                <a:lnTo>
                  <a:pt x="1309751" y="1216533"/>
                </a:lnTo>
                <a:lnTo>
                  <a:pt x="1362329" y="1153541"/>
                </a:lnTo>
                <a:lnTo>
                  <a:pt x="1419352" y="1083818"/>
                </a:lnTo>
                <a:lnTo>
                  <a:pt x="1506093" y="979551"/>
                </a:lnTo>
                <a:lnTo>
                  <a:pt x="1565529" y="906907"/>
                </a:lnTo>
                <a:lnTo>
                  <a:pt x="1658366" y="794258"/>
                </a:lnTo>
                <a:lnTo>
                  <a:pt x="1786890" y="638937"/>
                </a:lnTo>
                <a:lnTo>
                  <a:pt x="1978406" y="406527"/>
                </a:lnTo>
                <a:lnTo>
                  <a:pt x="2069719" y="296164"/>
                </a:lnTo>
                <a:lnTo>
                  <a:pt x="2165985" y="178181"/>
                </a:lnTo>
                <a:lnTo>
                  <a:pt x="2229104" y="101981"/>
                </a:lnTo>
                <a:lnTo>
                  <a:pt x="2290191" y="27559"/>
                </a:lnTo>
                <a:lnTo>
                  <a:pt x="2313178" y="0"/>
                </a:lnTo>
                <a:close/>
              </a:path>
              <a:path w="3317875" h="3877310">
                <a:moveTo>
                  <a:pt x="3317621" y="0"/>
                </a:moveTo>
                <a:lnTo>
                  <a:pt x="2659507" y="0"/>
                </a:lnTo>
                <a:lnTo>
                  <a:pt x="2506472" y="179451"/>
                </a:lnTo>
                <a:lnTo>
                  <a:pt x="2215007" y="519938"/>
                </a:lnTo>
                <a:lnTo>
                  <a:pt x="2092071" y="664210"/>
                </a:lnTo>
                <a:lnTo>
                  <a:pt x="2034794" y="731012"/>
                </a:lnTo>
                <a:lnTo>
                  <a:pt x="1982978" y="792861"/>
                </a:lnTo>
                <a:lnTo>
                  <a:pt x="1911096" y="876681"/>
                </a:lnTo>
                <a:lnTo>
                  <a:pt x="1839976" y="960374"/>
                </a:lnTo>
                <a:lnTo>
                  <a:pt x="1744599" y="1071372"/>
                </a:lnTo>
                <a:lnTo>
                  <a:pt x="1674114" y="1154557"/>
                </a:lnTo>
                <a:lnTo>
                  <a:pt x="1567815" y="1278763"/>
                </a:lnTo>
                <a:lnTo>
                  <a:pt x="1421003" y="1451991"/>
                </a:lnTo>
                <a:lnTo>
                  <a:pt x="1258570" y="1641856"/>
                </a:lnTo>
                <a:lnTo>
                  <a:pt x="1208786" y="1700530"/>
                </a:lnTo>
                <a:lnTo>
                  <a:pt x="1149350" y="1769745"/>
                </a:lnTo>
                <a:lnTo>
                  <a:pt x="1021461" y="1919605"/>
                </a:lnTo>
                <a:lnTo>
                  <a:pt x="971677" y="1978406"/>
                </a:lnTo>
                <a:lnTo>
                  <a:pt x="910717" y="2049145"/>
                </a:lnTo>
                <a:lnTo>
                  <a:pt x="733171" y="2257679"/>
                </a:lnTo>
                <a:lnTo>
                  <a:pt x="674243" y="2326386"/>
                </a:lnTo>
                <a:lnTo>
                  <a:pt x="604139" y="2408682"/>
                </a:lnTo>
                <a:lnTo>
                  <a:pt x="545211" y="2477389"/>
                </a:lnTo>
                <a:lnTo>
                  <a:pt x="498348" y="2533015"/>
                </a:lnTo>
                <a:lnTo>
                  <a:pt x="408813" y="2637028"/>
                </a:lnTo>
                <a:lnTo>
                  <a:pt x="277876" y="2790444"/>
                </a:lnTo>
                <a:lnTo>
                  <a:pt x="203835" y="2876423"/>
                </a:lnTo>
                <a:lnTo>
                  <a:pt x="167132" y="2919603"/>
                </a:lnTo>
                <a:lnTo>
                  <a:pt x="130683" y="2962910"/>
                </a:lnTo>
                <a:lnTo>
                  <a:pt x="97790" y="3001518"/>
                </a:lnTo>
                <a:lnTo>
                  <a:pt x="64516" y="3039872"/>
                </a:lnTo>
                <a:lnTo>
                  <a:pt x="31750" y="3078607"/>
                </a:lnTo>
                <a:lnTo>
                  <a:pt x="0" y="3118104"/>
                </a:lnTo>
                <a:lnTo>
                  <a:pt x="0" y="3877056"/>
                </a:lnTo>
                <a:lnTo>
                  <a:pt x="6731" y="3877056"/>
                </a:lnTo>
                <a:lnTo>
                  <a:pt x="6858" y="3874135"/>
                </a:lnTo>
                <a:lnTo>
                  <a:pt x="8001" y="3871595"/>
                </a:lnTo>
                <a:lnTo>
                  <a:pt x="14859" y="3863721"/>
                </a:lnTo>
                <a:lnTo>
                  <a:pt x="46609" y="3825748"/>
                </a:lnTo>
                <a:lnTo>
                  <a:pt x="64262" y="3805047"/>
                </a:lnTo>
                <a:lnTo>
                  <a:pt x="111887" y="3750437"/>
                </a:lnTo>
                <a:lnTo>
                  <a:pt x="144526" y="3711829"/>
                </a:lnTo>
                <a:lnTo>
                  <a:pt x="164465" y="3688854"/>
                </a:lnTo>
                <a:lnTo>
                  <a:pt x="180848" y="3668776"/>
                </a:lnTo>
                <a:lnTo>
                  <a:pt x="197612" y="3648710"/>
                </a:lnTo>
                <a:lnTo>
                  <a:pt x="250825" y="3587750"/>
                </a:lnTo>
                <a:lnTo>
                  <a:pt x="307594" y="3520948"/>
                </a:lnTo>
                <a:lnTo>
                  <a:pt x="339598" y="3483991"/>
                </a:lnTo>
                <a:lnTo>
                  <a:pt x="402971" y="3409569"/>
                </a:lnTo>
                <a:lnTo>
                  <a:pt x="439674" y="3365754"/>
                </a:lnTo>
                <a:lnTo>
                  <a:pt x="475361" y="3325114"/>
                </a:lnTo>
                <a:lnTo>
                  <a:pt x="528574" y="3261995"/>
                </a:lnTo>
                <a:lnTo>
                  <a:pt x="604139" y="3173476"/>
                </a:lnTo>
                <a:lnTo>
                  <a:pt x="640842" y="3131693"/>
                </a:lnTo>
                <a:lnTo>
                  <a:pt x="686689" y="3077845"/>
                </a:lnTo>
                <a:lnTo>
                  <a:pt x="738632" y="3015742"/>
                </a:lnTo>
                <a:lnTo>
                  <a:pt x="776478" y="2972689"/>
                </a:lnTo>
                <a:lnTo>
                  <a:pt x="828548" y="2910713"/>
                </a:lnTo>
                <a:lnTo>
                  <a:pt x="925195" y="2798445"/>
                </a:lnTo>
                <a:lnTo>
                  <a:pt x="943102" y="2778125"/>
                </a:lnTo>
                <a:lnTo>
                  <a:pt x="984250" y="2729103"/>
                </a:lnTo>
                <a:lnTo>
                  <a:pt x="1017270" y="2690749"/>
                </a:lnTo>
                <a:lnTo>
                  <a:pt x="1079246" y="2617470"/>
                </a:lnTo>
                <a:lnTo>
                  <a:pt x="1109091" y="2583180"/>
                </a:lnTo>
                <a:lnTo>
                  <a:pt x="1164971" y="2517775"/>
                </a:lnTo>
                <a:lnTo>
                  <a:pt x="1183767" y="2496058"/>
                </a:lnTo>
                <a:lnTo>
                  <a:pt x="1222756" y="2449830"/>
                </a:lnTo>
                <a:lnTo>
                  <a:pt x="1274572" y="2389886"/>
                </a:lnTo>
                <a:lnTo>
                  <a:pt x="1300480" y="2358771"/>
                </a:lnTo>
                <a:lnTo>
                  <a:pt x="1319276" y="2336546"/>
                </a:lnTo>
                <a:lnTo>
                  <a:pt x="1389380" y="2255266"/>
                </a:lnTo>
                <a:lnTo>
                  <a:pt x="1423797" y="2215896"/>
                </a:lnTo>
                <a:lnTo>
                  <a:pt x="1488694" y="2138426"/>
                </a:lnTo>
                <a:lnTo>
                  <a:pt x="1529588" y="2091436"/>
                </a:lnTo>
                <a:lnTo>
                  <a:pt x="1592326" y="2017649"/>
                </a:lnTo>
                <a:lnTo>
                  <a:pt x="1609090" y="1998599"/>
                </a:lnTo>
                <a:lnTo>
                  <a:pt x="1656588" y="1942846"/>
                </a:lnTo>
                <a:lnTo>
                  <a:pt x="1695196" y="1898269"/>
                </a:lnTo>
                <a:lnTo>
                  <a:pt x="1721104" y="1867154"/>
                </a:lnTo>
                <a:lnTo>
                  <a:pt x="1739900" y="1844929"/>
                </a:lnTo>
                <a:lnTo>
                  <a:pt x="1760220" y="1821434"/>
                </a:lnTo>
                <a:lnTo>
                  <a:pt x="1797304" y="1777873"/>
                </a:lnTo>
                <a:lnTo>
                  <a:pt x="1884172" y="1676527"/>
                </a:lnTo>
                <a:lnTo>
                  <a:pt x="1909953" y="1646936"/>
                </a:lnTo>
                <a:lnTo>
                  <a:pt x="1929130" y="1624584"/>
                </a:lnTo>
                <a:lnTo>
                  <a:pt x="1982470" y="1561084"/>
                </a:lnTo>
                <a:lnTo>
                  <a:pt x="2069465" y="1460246"/>
                </a:lnTo>
                <a:lnTo>
                  <a:pt x="2107565" y="1415161"/>
                </a:lnTo>
                <a:lnTo>
                  <a:pt x="2147062" y="1369187"/>
                </a:lnTo>
                <a:lnTo>
                  <a:pt x="2180590" y="1329055"/>
                </a:lnTo>
                <a:lnTo>
                  <a:pt x="2218563" y="1286129"/>
                </a:lnTo>
                <a:lnTo>
                  <a:pt x="2240915" y="1259840"/>
                </a:lnTo>
                <a:lnTo>
                  <a:pt x="2316353" y="1170051"/>
                </a:lnTo>
                <a:lnTo>
                  <a:pt x="2344928" y="1137793"/>
                </a:lnTo>
                <a:lnTo>
                  <a:pt x="2374646" y="1102360"/>
                </a:lnTo>
                <a:lnTo>
                  <a:pt x="2404872" y="1067689"/>
                </a:lnTo>
                <a:lnTo>
                  <a:pt x="2431796" y="1036066"/>
                </a:lnTo>
                <a:lnTo>
                  <a:pt x="2476754" y="982599"/>
                </a:lnTo>
                <a:lnTo>
                  <a:pt x="2546731" y="901573"/>
                </a:lnTo>
                <a:lnTo>
                  <a:pt x="2572639" y="871982"/>
                </a:lnTo>
                <a:lnTo>
                  <a:pt x="2581021" y="862076"/>
                </a:lnTo>
                <a:lnTo>
                  <a:pt x="2591054" y="849503"/>
                </a:lnTo>
                <a:lnTo>
                  <a:pt x="2601214" y="837184"/>
                </a:lnTo>
                <a:lnTo>
                  <a:pt x="2627376" y="806958"/>
                </a:lnTo>
                <a:lnTo>
                  <a:pt x="2652268" y="777240"/>
                </a:lnTo>
                <a:lnTo>
                  <a:pt x="2681224" y="743839"/>
                </a:lnTo>
                <a:lnTo>
                  <a:pt x="2708148" y="713359"/>
                </a:lnTo>
                <a:lnTo>
                  <a:pt x="2729357" y="688340"/>
                </a:lnTo>
                <a:lnTo>
                  <a:pt x="2776728" y="631698"/>
                </a:lnTo>
                <a:lnTo>
                  <a:pt x="2847975" y="549275"/>
                </a:lnTo>
                <a:lnTo>
                  <a:pt x="2874010" y="519811"/>
                </a:lnTo>
                <a:lnTo>
                  <a:pt x="2898013" y="489966"/>
                </a:lnTo>
                <a:lnTo>
                  <a:pt x="2931033" y="451739"/>
                </a:lnTo>
                <a:lnTo>
                  <a:pt x="2967990" y="407924"/>
                </a:lnTo>
                <a:lnTo>
                  <a:pt x="3044571" y="319405"/>
                </a:lnTo>
                <a:lnTo>
                  <a:pt x="3102991" y="250698"/>
                </a:lnTo>
                <a:lnTo>
                  <a:pt x="3121914" y="229108"/>
                </a:lnTo>
                <a:lnTo>
                  <a:pt x="3159633" y="184023"/>
                </a:lnTo>
                <a:lnTo>
                  <a:pt x="3268472" y="57404"/>
                </a:lnTo>
                <a:lnTo>
                  <a:pt x="3302762" y="18034"/>
                </a:lnTo>
                <a:lnTo>
                  <a:pt x="3317621" y="0"/>
                </a:lnTo>
                <a:close/>
              </a:path>
            </a:pathLst>
          </a:custGeom>
          <a:solidFill>
            <a:srgbClr val="CDC9C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435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6/19/2026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6/19/2026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6/19/2026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30553" y="375919"/>
            <a:ext cx="16026892" cy="13671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2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950454" y="3655314"/>
            <a:ext cx="8382634" cy="37344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35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6/19/2026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mozilla.org/es/docs/Learn/Accessibility" TargetMode="External"/><Relationship Id="rId2" Type="http://schemas.openxmlformats.org/officeDocument/2006/relationships/hyperlink" Target="https://www.gob.pe/produce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expressjs.com/es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96900" y="4702555"/>
            <a:ext cx="5557520" cy="818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200" dirty="0">
                <a:latin typeface="Trebuchet MS"/>
                <a:cs typeface="Trebuchet MS"/>
              </a:rPr>
              <a:t>Programación</a:t>
            </a:r>
            <a:r>
              <a:rPr sz="5200" spc="-370" dirty="0">
                <a:latin typeface="Trebuchet MS"/>
                <a:cs typeface="Trebuchet MS"/>
              </a:rPr>
              <a:t> </a:t>
            </a:r>
            <a:r>
              <a:rPr sz="5200" spc="-25" dirty="0">
                <a:latin typeface="Trebuchet MS"/>
                <a:cs typeface="Trebuchet MS"/>
              </a:rPr>
              <a:t>Web</a:t>
            </a:r>
            <a:endParaRPr sz="5200">
              <a:latin typeface="Trebuchet MS"/>
              <a:cs typeface="Trebuchet MS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472420">
              <a:lnSpc>
                <a:spcPct val="100000"/>
              </a:lnSpc>
              <a:spcBef>
                <a:spcPts val="100"/>
              </a:spcBef>
            </a:pPr>
            <a:r>
              <a:rPr sz="8800" spc="-25" dirty="0">
                <a:solidFill>
                  <a:srgbClr val="FFFF00"/>
                </a:solidFill>
                <a:latin typeface="Calibri"/>
                <a:cs typeface="Calibri"/>
              </a:rPr>
              <a:t>UPN</a:t>
            </a:r>
            <a:endParaRPr sz="88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988300" y="4672329"/>
            <a:ext cx="8547100" cy="62004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658110" marR="6350" indent="-2646045">
              <a:lnSpc>
                <a:spcPct val="100000"/>
              </a:lnSpc>
              <a:spcBef>
                <a:spcPts val="95"/>
              </a:spcBef>
            </a:pPr>
            <a:r>
              <a:rPr sz="3950" b="1" i="1" dirty="0">
                <a:solidFill>
                  <a:srgbClr val="FFFF00"/>
                </a:solidFill>
                <a:latin typeface="Arial"/>
                <a:cs typeface="Arial"/>
              </a:rPr>
              <a:t>Avance</a:t>
            </a:r>
            <a:r>
              <a:rPr sz="3950" b="1" i="1" spc="-185" dirty="0">
                <a:solidFill>
                  <a:srgbClr val="FFFF00"/>
                </a:solidFill>
                <a:latin typeface="Arial"/>
                <a:cs typeface="Arial"/>
              </a:rPr>
              <a:t> </a:t>
            </a:r>
            <a:r>
              <a:rPr sz="3950" b="1" i="1" dirty="0">
                <a:solidFill>
                  <a:srgbClr val="FFFF00"/>
                </a:solidFill>
                <a:latin typeface="Arial"/>
                <a:cs typeface="Arial"/>
              </a:rPr>
              <a:t>1:</a:t>
            </a:r>
            <a:r>
              <a:rPr sz="3950" b="1" i="1" spc="-200" dirty="0">
                <a:solidFill>
                  <a:srgbClr val="FFFF00"/>
                </a:solidFill>
                <a:latin typeface="Arial"/>
                <a:cs typeface="Arial"/>
              </a:rPr>
              <a:t> </a:t>
            </a:r>
            <a:r>
              <a:rPr sz="3950" b="1" i="1" dirty="0">
                <a:solidFill>
                  <a:srgbClr val="FFFF00"/>
                </a:solidFill>
                <a:latin typeface="Arial"/>
                <a:cs typeface="Arial"/>
              </a:rPr>
              <a:t>Py</a:t>
            </a:r>
            <a:r>
              <a:rPr sz="3950" b="1" i="1" spc="-190" dirty="0">
                <a:solidFill>
                  <a:srgbClr val="FFFF00"/>
                </a:solidFill>
                <a:latin typeface="Arial"/>
                <a:cs typeface="Arial"/>
              </a:rPr>
              <a:t> </a:t>
            </a:r>
            <a:r>
              <a:rPr sz="3950" b="1" i="1" spc="-105" dirty="0">
                <a:solidFill>
                  <a:srgbClr val="FFFF00"/>
                </a:solidFill>
                <a:latin typeface="Arial"/>
                <a:cs typeface="Arial"/>
              </a:rPr>
              <a:t>Programacion </a:t>
            </a:r>
            <a:r>
              <a:rPr sz="3950" b="1" i="1" spc="-25" dirty="0">
                <a:solidFill>
                  <a:srgbClr val="FFFF00"/>
                </a:solidFill>
                <a:latin typeface="Arial"/>
                <a:cs typeface="Arial"/>
              </a:rPr>
              <a:t>WEB</a:t>
            </a:r>
            <a:endParaRPr sz="395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97711" y="4342383"/>
            <a:ext cx="3065780" cy="6356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4000" spc="-10" dirty="0">
                <a:latin typeface="Arial MT"/>
                <a:cs typeface="Arial MT"/>
              </a:rPr>
              <a:t>CONTENIDO</a:t>
            </a:r>
            <a:endParaRPr sz="4000">
              <a:latin typeface="Arial MT"/>
              <a:cs typeface="Arial MT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950454" y="2838957"/>
            <a:ext cx="5268595" cy="688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350" dirty="0">
                <a:solidFill>
                  <a:srgbClr val="FFFFFF"/>
                </a:solidFill>
                <a:latin typeface="Arial MT"/>
                <a:cs typeface="Arial MT"/>
              </a:rPr>
              <a:t>1.</a:t>
            </a:r>
            <a:r>
              <a:rPr sz="4350" spc="869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4350" dirty="0">
                <a:solidFill>
                  <a:srgbClr val="FFFFFF"/>
                </a:solidFill>
                <a:latin typeface="Arial MT"/>
                <a:cs typeface="Arial MT"/>
              </a:rPr>
              <a:t>Titulo</a:t>
            </a:r>
            <a:r>
              <a:rPr sz="4350" spc="-7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4350" dirty="0">
                <a:solidFill>
                  <a:srgbClr val="FFFFFF"/>
                </a:solidFill>
                <a:latin typeface="Arial MT"/>
                <a:cs typeface="Arial MT"/>
              </a:rPr>
              <a:t>del</a:t>
            </a:r>
            <a:r>
              <a:rPr sz="4350" spc="-8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4350" spc="-10" dirty="0">
                <a:solidFill>
                  <a:srgbClr val="FFFFFF"/>
                </a:solidFill>
                <a:latin typeface="Arial MT"/>
                <a:cs typeface="Arial MT"/>
              </a:rPr>
              <a:t>proyecto</a:t>
            </a:r>
            <a:endParaRPr sz="4350">
              <a:latin typeface="Arial MT"/>
              <a:cs typeface="Arial MT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56285" marR="518159" indent="-744220">
              <a:lnSpc>
                <a:spcPct val="100000"/>
              </a:lnSpc>
              <a:spcBef>
                <a:spcPts val="100"/>
              </a:spcBef>
              <a:buAutoNum type="arabicPeriod" startAt="2"/>
              <a:tabLst>
                <a:tab pos="756285" algn="l"/>
              </a:tabLst>
            </a:pPr>
            <a:r>
              <a:rPr dirty="0"/>
              <a:t>Identificar</a:t>
            </a:r>
            <a:r>
              <a:rPr spc="-90" dirty="0"/>
              <a:t> </a:t>
            </a:r>
            <a:r>
              <a:rPr dirty="0"/>
              <a:t>el</a:t>
            </a:r>
            <a:r>
              <a:rPr spc="-110" dirty="0"/>
              <a:t> </a:t>
            </a:r>
            <a:r>
              <a:rPr spc="-10" dirty="0"/>
              <a:t>emprendimiento objetivo</a:t>
            </a:r>
          </a:p>
          <a:p>
            <a:pPr marL="756920" indent="-744220">
              <a:lnSpc>
                <a:spcPct val="100000"/>
              </a:lnSpc>
              <a:spcBef>
                <a:spcPts val="1100"/>
              </a:spcBef>
              <a:buAutoNum type="arabicPeriod" startAt="2"/>
              <a:tabLst>
                <a:tab pos="756920" algn="l"/>
              </a:tabLst>
            </a:pPr>
            <a:r>
              <a:rPr dirty="0"/>
              <a:t>Formulatcion</a:t>
            </a:r>
            <a:r>
              <a:rPr spc="-155" dirty="0"/>
              <a:t> </a:t>
            </a:r>
            <a:r>
              <a:rPr dirty="0"/>
              <a:t>del</a:t>
            </a:r>
            <a:r>
              <a:rPr spc="-165" dirty="0"/>
              <a:t> </a:t>
            </a:r>
            <a:r>
              <a:rPr spc="-10" dirty="0"/>
              <a:t>problema.</a:t>
            </a:r>
          </a:p>
          <a:p>
            <a:pPr marL="756920" indent="-744220">
              <a:lnSpc>
                <a:spcPct val="100000"/>
              </a:lnSpc>
              <a:spcBef>
                <a:spcPts val="1000"/>
              </a:spcBef>
              <a:buAutoNum type="arabicPeriod" startAt="2"/>
              <a:tabLst>
                <a:tab pos="756920" algn="l"/>
              </a:tabLst>
            </a:pPr>
            <a:r>
              <a:rPr dirty="0"/>
              <a:t>Objetivo</a:t>
            </a:r>
            <a:r>
              <a:rPr spc="-190" dirty="0"/>
              <a:t> </a:t>
            </a:r>
            <a:r>
              <a:rPr dirty="0"/>
              <a:t>General</a:t>
            </a:r>
            <a:r>
              <a:rPr spc="-155" dirty="0"/>
              <a:t> </a:t>
            </a:r>
            <a:r>
              <a:rPr dirty="0"/>
              <a:t>y</a:t>
            </a:r>
            <a:r>
              <a:rPr spc="-185" dirty="0"/>
              <a:t> </a:t>
            </a:r>
            <a:r>
              <a:rPr spc="-10" dirty="0"/>
              <a:t>específicos.</a:t>
            </a:r>
          </a:p>
          <a:p>
            <a:pPr marL="756920" indent="-744220">
              <a:lnSpc>
                <a:spcPct val="100000"/>
              </a:lnSpc>
              <a:spcBef>
                <a:spcPts val="1000"/>
              </a:spcBef>
              <a:buAutoNum type="arabicPeriod" startAt="2"/>
              <a:tabLst>
                <a:tab pos="756920" algn="l"/>
              </a:tabLst>
            </a:pPr>
            <a:r>
              <a:rPr dirty="0"/>
              <a:t>Referencias</a:t>
            </a:r>
            <a:r>
              <a:rPr spc="-215" dirty="0"/>
              <a:t> </a:t>
            </a:r>
            <a:r>
              <a:rPr spc="-10" dirty="0"/>
              <a:t>Bibliográficas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2765" y="0"/>
            <a:ext cx="18255615" cy="10287000"/>
            <a:chOff x="32765" y="0"/>
            <a:chExt cx="18255615" cy="10287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2765" y="0"/>
              <a:ext cx="952500" cy="10286998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819149" y="0"/>
              <a:ext cx="17469485" cy="10287000"/>
            </a:xfrm>
            <a:custGeom>
              <a:avLst/>
              <a:gdLst/>
              <a:ahLst/>
              <a:cxnLst/>
              <a:rect l="l" t="t" r="r" b="b"/>
              <a:pathLst>
                <a:path w="17469485" h="10287000">
                  <a:moveTo>
                    <a:pt x="17469104" y="0"/>
                  </a:moveTo>
                  <a:lnTo>
                    <a:pt x="0" y="0"/>
                  </a:lnTo>
                  <a:lnTo>
                    <a:pt x="0" y="10287000"/>
                  </a:lnTo>
                  <a:lnTo>
                    <a:pt x="17469104" y="10287000"/>
                  </a:lnTo>
                  <a:lnTo>
                    <a:pt x="17469104" y="0"/>
                  </a:lnTo>
                  <a:close/>
                </a:path>
              </a:pathLst>
            </a:custGeom>
            <a:solidFill>
              <a:srgbClr val="032C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3200400" y="4533900"/>
            <a:ext cx="14478000" cy="8130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rgbClr val="FFFF00"/>
                </a:solidFill>
              </a:rPr>
              <a:t>1.</a:t>
            </a:r>
            <a:r>
              <a:rPr spc="-170" dirty="0">
                <a:solidFill>
                  <a:srgbClr val="FFFF00"/>
                </a:solidFill>
              </a:rPr>
              <a:t> </a:t>
            </a:r>
            <a:r>
              <a:rPr lang="es-PE" b="1" dirty="0">
                <a:solidFill>
                  <a:srgbClr val="FFFF00"/>
                </a:solidFill>
              </a:rPr>
              <a:t>MC </a:t>
            </a:r>
            <a:r>
              <a:rPr lang="es-PE" b="1" dirty="0" err="1">
                <a:solidFill>
                  <a:srgbClr val="FFFF00"/>
                </a:solidFill>
              </a:rPr>
              <a:t>BackPack</a:t>
            </a:r>
            <a:r>
              <a:rPr lang="es-PE" b="1" dirty="0">
                <a:solidFill>
                  <a:srgbClr val="FFFF00"/>
                </a:solidFill>
              </a:rPr>
              <a:t> | Diseño, Comodidad y Estilo</a:t>
            </a:r>
            <a:endParaRPr b="1" spc="-10" dirty="0">
              <a:solidFill>
                <a:srgbClr val="FFFF0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0F76C-042A-E222-293B-9AC77FCE1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EBCA7491-8438-C818-E529-E6FFDFC814E7}"/>
              </a:ext>
            </a:extLst>
          </p:cNvPr>
          <p:cNvGrpSpPr/>
          <p:nvPr/>
        </p:nvGrpSpPr>
        <p:grpSpPr>
          <a:xfrm>
            <a:off x="32765" y="0"/>
            <a:ext cx="18255615" cy="10287000"/>
            <a:chOff x="32765" y="0"/>
            <a:chExt cx="18255615" cy="10287000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60674E7C-16C8-593E-49AC-505808939995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2765" y="0"/>
              <a:ext cx="952500" cy="10286998"/>
            </a:xfrm>
            <a:prstGeom prst="rect">
              <a:avLst/>
            </a:prstGeom>
          </p:spPr>
        </p:pic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415C34B7-4066-7819-9B47-F21A46E4E57E}"/>
                </a:ext>
              </a:extLst>
            </p:cNvPr>
            <p:cNvSpPr/>
            <p:nvPr/>
          </p:nvSpPr>
          <p:spPr>
            <a:xfrm>
              <a:off x="819149" y="0"/>
              <a:ext cx="17469485" cy="10287000"/>
            </a:xfrm>
            <a:custGeom>
              <a:avLst/>
              <a:gdLst/>
              <a:ahLst/>
              <a:cxnLst/>
              <a:rect l="l" t="t" r="r" b="b"/>
              <a:pathLst>
                <a:path w="17469485" h="10287000">
                  <a:moveTo>
                    <a:pt x="17469104" y="0"/>
                  </a:moveTo>
                  <a:lnTo>
                    <a:pt x="0" y="0"/>
                  </a:lnTo>
                  <a:lnTo>
                    <a:pt x="0" y="10287000"/>
                  </a:lnTo>
                  <a:lnTo>
                    <a:pt x="17469104" y="10287000"/>
                  </a:lnTo>
                  <a:lnTo>
                    <a:pt x="17469104" y="0"/>
                  </a:lnTo>
                  <a:close/>
                </a:path>
              </a:pathLst>
            </a:custGeom>
            <a:solidFill>
              <a:srgbClr val="032C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 descr="$PPTXTitle">
            <a:extLst>
              <a:ext uri="{FF2B5EF4-FFF2-40B4-BE49-F238E27FC236}">
                <a16:creationId xmlns:a16="http://schemas.microsoft.com/office/drawing/2014/main" id="{8141EF97-C954-2CD8-9D72-920DF7F6438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00400" y="2736430"/>
            <a:ext cx="14478000" cy="481413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PE" b="1" spc="-10" dirty="0">
                <a:solidFill>
                  <a:srgbClr val="FFFF00"/>
                </a:solidFill>
              </a:rPr>
              <a:t>Integrantes:</a:t>
            </a:r>
            <a:br>
              <a:rPr lang="es-PE" b="1" spc="-10" dirty="0">
                <a:solidFill>
                  <a:srgbClr val="FFFF00"/>
                </a:solidFill>
              </a:rPr>
            </a:br>
            <a:r>
              <a:rPr lang="es-PE" b="1" spc="-10" dirty="0">
                <a:solidFill>
                  <a:srgbClr val="FFFF00"/>
                </a:solidFill>
              </a:rPr>
              <a:t>- Armas Camones, Jeremy Geraldo</a:t>
            </a:r>
            <a:br>
              <a:rPr lang="es-PE" b="1" spc="-10" dirty="0">
                <a:solidFill>
                  <a:srgbClr val="FFFF00"/>
                </a:solidFill>
              </a:rPr>
            </a:br>
            <a:r>
              <a:rPr lang="es-PE" b="1" spc="-10" dirty="0">
                <a:solidFill>
                  <a:srgbClr val="FFFF00"/>
                </a:solidFill>
              </a:rPr>
              <a:t>- Candiotti Simeon, </a:t>
            </a:r>
            <a:r>
              <a:rPr lang="es-PE" b="1" spc="-10" dirty="0" err="1">
                <a:solidFill>
                  <a:srgbClr val="FFFF00"/>
                </a:solidFill>
              </a:rPr>
              <a:t>Monica</a:t>
            </a:r>
            <a:r>
              <a:rPr lang="es-PE" b="1" spc="-10" dirty="0">
                <a:solidFill>
                  <a:srgbClr val="FFFF00"/>
                </a:solidFill>
              </a:rPr>
              <a:t> Sofia</a:t>
            </a:r>
            <a:br>
              <a:rPr lang="es-PE" b="1" spc="-10" dirty="0">
                <a:solidFill>
                  <a:srgbClr val="FFFF00"/>
                </a:solidFill>
              </a:rPr>
            </a:br>
            <a:r>
              <a:rPr lang="es-PE" b="1" spc="-10" dirty="0">
                <a:solidFill>
                  <a:srgbClr val="FFFF00"/>
                </a:solidFill>
              </a:rPr>
              <a:t>- Castillo Flores, Pablo Joel</a:t>
            </a:r>
            <a:br>
              <a:rPr lang="es-PE" b="1" spc="-10" dirty="0">
                <a:solidFill>
                  <a:srgbClr val="FFFF00"/>
                </a:solidFill>
              </a:rPr>
            </a:br>
            <a:r>
              <a:rPr lang="es-PE" b="1" spc="-10" dirty="0">
                <a:solidFill>
                  <a:srgbClr val="FFFF00"/>
                </a:solidFill>
              </a:rPr>
              <a:t>- Gaitan Gonzales, </a:t>
            </a:r>
            <a:r>
              <a:rPr lang="es-PE" b="1" spc="-10" dirty="0" err="1">
                <a:solidFill>
                  <a:srgbClr val="FFFF00"/>
                </a:solidFill>
              </a:rPr>
              <a:t>Geradth</a:t>
            </a:r>
            <a:r>
              <a:rPr lang="es-PE" b="1" spc="-10" dirty="0">
                <a:solidFill>
                  <a:srgbClr val="FFFF00"/>
                </a:solidFill>
              </a:rPr>
              <a:t> Humberto</a:t>
            </a:r>
            <a:br>
              <a:rPr lang="es-PE" b="1" spc="-10" dirty="0">
                <a:solidFill>
                  <a:srgbClr val="FFFF00"/>
                </a:solidFill>
              </a:rPr>
            </a:br>
            <a:r>
              <a:rPr lang="es-PE" b="1" spc="-10" dirty="0">
                <a:solidFill>
                  <a:srgbClr val="FFFF00"/>
                </a:solidFill>
              </a:rPr>
              <a:t>- </a:t>
            </a:r>
            <a:r>
              <a:rPr lang="es-PE" b="1" spc="-10" dirty="0" err="1">
                <a:solidFill>
                  <a:srgbClr val="FFFF00"/>
                </a:solidFill>
              </a:rPr>
              <a:t>Huisa</a:t>
            </a:r>
            <a:r>
              <a:rPr lang="es-PE" b="1" spc="-10" dirty="0">
                <a:solidFill>
                  <a:srgbClr val="FFFF00"/>
                </a:solidFill>
              </a:rPr>
              <a:t> Valle, Justhin Christofher</a:t>
            </a:r>
            <a:endParaRPr b="1" spc="-10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71157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332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u="heavy" spc="-235" dirty="0">
                <a:uFill>
                  <a:solidFill>
                    <a:srgbClr val="000000"/>
                  </a:solidFill>
                </a:uFill>
              </a:rPr>
              <a:t> </a:t>
            </a:r>
            <a:r>
              <a:rPr u="heavy" dirty="0">
                <a:uFill>
                  <a:solidFill>
                    <a:srgbClr val="000000"/>
                  </a:solidFill>
                </a:uFill>
              </a:rPr>
              <a:t>2.</a:t>
            </a:r>
            <a:r>
              <a:rPr u="heavy" spc="-160" dirty="0">
                <a:uFill>
                  <a:solidFill>
                    <a:srgbClr val="000000"/>
                  </a:solidFill>
                </a:uFill>
              </a:rPr>
              <a:t> </a:t>
            </a:r>
            <a:r>
              <a:rPr u="heavy" dirty="0">
                <a:uFill>
                  <a:solidFill>
                    <a:srgbClr val="000000"/>
                  </a:solidFill>
                </a:uFill>
              </a:rPr>
              <a:t>Identificar</a:t>
            </a:r>
            <a:r>
              <a:rPr u="heavy" spc="-50" dirty="0">
                <a:uFill>
                  <a:solidFill>
                    <a:srgbClr val="000000"/>
                  </a:solidFill>
                </a:uFill>
              </a:rPr>
              <a:t> </a:t>
            </a:r>
            <a:r>
              <a:rPr u="heavy" dirty="0">
                <a:uFill>
                  <a:solidFill>
                    <a:srgbClr val="000000"/>
                  </a:solidFill>
                </a:uFill>
              </a:rPr>
              <a:t>el</a:t>
            </a:r>
            <a:r>
              <a:rPr u="heavy" spc="-75" dirty="0">
                <a:uFill>
                  <a:solidFill>
                    <a:srgbClr val="000000"/>
                  </a:solidFill>
                </a:uFill>
              </a:rPr>
              <a:t> </a:t>
            </a:r>
            <a:r>
              <a:rPr u="heavy" dirty="0">
                <a:uFill>
                  <a:solidFill>
                    <a:srgbClr val="000000"/>
                  </a:solidFill>
                </a:uFill>
              </a:rPr>
              <a:t>emprendimiento</a:t>
            </a:r>
            <a:r>
              <a:rPr u="heavy" spc="-80" dirty="0">
                <a:uFill>
                  <a:solidFill>
                    <a:srgbClr val="000000"/>
                  </a:solidFill>
                </a:uFill>
              </a:rPr>
              <a:t> </a:t>
            </a:r>
            <a:r>
              <a:rPr u="heavy" spc="-10" dirty="0">
                <a:uFill>
                  <a:solidFill>
                    <a:srgbClr val="000000"/>
                  </a:solidFill>
                </a:uFill>
              </a:rPr>
              <a:t>objetivo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F7CE962-224A-05F9-64E4-390A9FC96902}"/>
              </a:ext>
            </a:extLst>
          </p:cNvPr>
          <p:cNvSpPr txBox="1"/>
          <p:nvPr/>
        </p:nvSpPr>
        <p:spPr>
          <a:xfrm>
            <a:off x="1295400" y="2019300"/>
            <a:ext cx="12344400" cy="3673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200000"/>
              </a:lnSpc>
            </a:pPr>
            <a:r>
              <a:rPr lang="es-PE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proyecto se enfoca en </a:t>
            </a:r>
            <a:r>
              <a:rPr lang="es-PE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 </a:t>
            </a:r>
            <a:r>
              <a:rPr lang="es-PE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BackPack</a:t>
            </a:r>
            <a:r>
              <a:rPr lang="es-PE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un negocio de Lima Metropolitana dedicado a la confección de mochilas nacionales de alta resistencia y a la venta de productos importados seleccionados. El emprendimiento opera bajo un </a:t>
            </a:r>
            <a:r>
              <a:rPr lang="es-PE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modelo comercial itinerante</a:t>
            </a:r>
            <a:r>
              <a:rPr lang="es-PE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 no posee un local físico fijo, por lo que su canal de interacción y ventas depende enteramente de los cronogramas de las ferias vecinales organizadas por las municipalidades.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130553" y="375919"/>
            <a:ext cx="16026892" cy="1136720"/>
          </a:xfrm>
          <a:prstGeom prst="rect">
            <a:avLst/>
          </a:prstGeom>
        </p:spPr>
        <p:txBody>
          <a:bodyPr vert="horz" wrap="square" lIns="0" tIns="3332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u="heavy" spc="-204" dirty="0">
                <a:uFill>
                  <a:solidFill>
                    <a:srgbClr val="000000"/>
                  </a:solidFill>
                </a:uFill>
              </a:rPr>
              <a:t> </a:t>
            </a:r>
            <a:r>
              <a:rPr u="heavy" dirty="0">
                <a:uFill>
                  <a:solidFill>
                    <a:srgbClr val="000000"/>
                  </a:solidFill>
                </a:uFill>
              </a:rPr>
              <a:t>3.</a:t>
            </a:r>
            <a:r>
              <a:rPr u="heavy" spc="-130" dirty="0">
                <a:uFill>
                  <a:solidFill>
                    <a:srgbClr val="000000"/>
                  </a:solidFill>
                </a:uFill>
              </a:rPr>
              <a:t> </a:t>
            </a:r>
            <a:r>
              <a:rPr u="heavy" dirty="0">
                <a:uFill>
                  <a:solidFill>
                    <a:srgbClr val="000000"/>
                  </a:solidFill>
                </a:uFill>
              </a:rPr>
              <a:t>Definir</a:t>
            </a:r>
            <a:r>
              <a:rPr u="heavy" spc="-40" dirty="0">
                <a:uFill>
                  <a:solidFill>
                    <a:srgbClr val="000000"/>
                  </a:solidFill>
                </a:uFill>
              </a:rPr>
              <a:t> </a:t>
            </a:r>
            <a:r>
              <a:rPr u="heavy" dirty="0">
                <a:uFill>
                  <a:solidFill>
                    <a:srgbClr val="000000"/>
                  </a:solidFill>
                </a:uFill>
              </a:rPr>
              <a:t>y</a:t>
            </a:r>
            <a:r>
              <a:rPr u="heavy" spc="-45" dirty="0">
                <a:uFill>
                  <a:solidFill>
                    <a:srgbClr val="000000"/>
                  </a:solidFill>
                </a:uFill>
              </a:rPr>
              <a:t> </a:t>
            </a:r>
            <a:r>
              <a:rPr u="heavy" dirty="0">
                <a:uFill>
                  <a:solidFill>
                    <a:srgbClr val="000000"/>
                  </a:solidFill>
                </a:uFill>
              </a:rPr>
              <a:t>formular</a:t>
            </a:r>
            <a:r>
              <a:rPr u="heavy" spc="-70" dirty="0">
                <a:uFill>
                  <a:solidFill>
                    <a:srgbClr val="000000"/>
                  </a:solidFill>
                </a:uFill>
              </a:rPr>
              <a:t> </a:t>
            </a:r>
            <a:r>
              <a:rPr u="heavy" spc="-10" dirty="0" err="1">
                <a:uFill>
                  <a:solidFill>
                    <a:srgbClr val="000000"/>
                  </a:solidFill>
                </a:uFill>
              </a:rPr>
              <a:t>el</a:t>
            </a:r>
            <a:r>
              <a:rPr lang="es-PE" u="heavy" spc="-10" dirty="0">
                <a:uFill>
                  <a:solidFill>
                    <a:srgbClr val="000000"/>
                  </a:solidFill>
                </a:uFill>
              </a:rPr>
              <a:t> </a:t>
            </a:r>
            <a:r>
              <a:rPr u="heavy" spc="-10" dirty="0" err="1">
                <a:uFill>
                  <a:solidFill>
                    <a:srgbClr val="000000"/>
                  </a:solidFill>
                </a:uFill>
              </a:rPr>
              <a:t>problema</a:t>
            </a:r>
            <a:endParaRPr u="heavy" spc="-10" dirty="0">
              <a:uFill>
                <a:solidFill>
                  <a:srgbClr val="000000"/>
                </a:solidFill>
              </a:uFill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86E4889-A012-5356-730C-495A57057AAC}"/>
              </a:ext>
            </a:extLst>
          </p:cNvPr>
          <p:cNvSpPr txBox="1"/>
          <p:nvPr/>
        </p:nvSpPr>
        <p:spPr>
          <a:xfrm>
            <a:off x="1371600" y="2019300"/>
            <a:ext cx="9144000" cy="2222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200000"/>
              </a:lnSpc>
            </a:pP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carencia de una infraestructura digital propia e integrada para el emprendimiento itinerante </a:t>
            </a:r>
            <a:r>
              <a:rPr lang="es-P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 </a:t>
            </a:r>
            <a:r>
              <a:rPr lang="es-P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BackPack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restringe su mercado a la presencialidad temporal, provocando una fuga sistemática de clientes potenciales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post-feria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la invisibilidad de su stock real y una alta vulnerabilidad comercial ante imprevistos en los espacios físicos municipales. 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B5DC37FB-E75C-5B03-781C-AA8357E18E00}"/>
              </a:ext>
            </a:extLst>
          </p:cNvPr>
          <p:cNvSpPr txBox="1"/>
          <p:nvPr/>
        </p:nvSpPr>
        <p:spPr>
          <a:xfrm>
            <a:off x="1371600" y="5143500"/>
            <a:ext cx="9144000" cy="2776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200000"/>
              </a:lnSpc>
            </a:pP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¿De qué manera el desarrollo e implementación de una aplicación web responsiva, basada en una arquitectura cliente-servidor (Node.js, Express.js y persistencia en JSON), permitirá sistematizar la exhibición de catálogos, la difusión cronológica de ubicaciones y la gestión de pedidos para mitigar la invisibilidad </a:t>
            </a:r>
            <a:r>
              <a:rPr lang="es-P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post-feria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del emprendimiento itinerante </a:t>
            </a:r>
            <a:r>
              <a:rPr lang="es-P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 </a:t>
            </a:r>
            <a:r>
              <a:rPr lang="es-PE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BackPack</a:t>
            </a:r>
            <a:r>
              <a:rPr lang="es-P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 Lima Metropolitana? 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8BD1326-98ED-CEBF-898C-49E762F0B8A3}"/>
              </a:ext>
            </a:extLst>
          </p:cNvPr>
          <p:cNvSpPr txBox="1"/>
          <p:nvPr/>
        </p:nvSpPr>
        <p:spPr>
          <a:xfrm>
            <a:off x="1398896" y="4734148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Formulación del Problema</a:t>
            </a:r>
            <a:r>
              <a:rPr lang="es-PE" dirty="0"/>
              <a:t>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332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u="heavy" spc="-200" dirty="0">
                <a:uFill>
                  <a:solidFill>
                    <a:srgbClr val="000000"/>
                  </a:solidFill>
                </a:uFill>
              </a:rPr>
              <a:t> </a:t>
            </a:r>
            <a:r>
              <a:rPr u="heavy" dirty="0">
                <a:uFill>
                  <a:solidFill>
                    <a:srgbClr val="000000"/>
                  </a:solidFill>
                </a:uFill>
              </a:rPr>
              <a:t>4.</a:t>
            </a:r>
            <a:r>
              <a:rPr u="heavy" spc="-135" dirty="0">
                <a:uFill>
                  <a:solidFill>
                    <a:srgbClr val="000000"/>
                  </a:solidFill>
                </a:uFill>
              </a:rPr>
              <a:t> </a:t>
            </a:r>
            <a:r>
              <a:rPr u="heavy" dirty="0">
                <a:uFill>
                  <a:solidFill>
                    <a:srgbClr val="000000"/>
                  </a:solidFill>
                </a:uFill>
              </a:rPr>
              <a:t>Objetivo</a:t>
            </a:r>
            <a:r>
              <a:rPr u="heavy" spc="-120" dirty="0">
                <a:uFill>
                  <a:solidFill>
                    <a:srgbClr val="000000"/>
                  </a:solidFill>
                </a:uFill>
              </a:rPr>
              <a:t> </a:t>
            </a:r>
            <a:r>
              <a:rPr u="heavy" dirty="0">
                <a:uFill>
                  <a:solidFill>
                    <a:srgbClr val="000000"/>
                  </a:solidFill>
                </a:uFill>
              </a:rPr>
              <a:t>General</a:t>
            </a:r>
            <a:r>
              <a:rPr u="heavy" spc="-120" dirty="0">
                <a:uFill>
                  <a:solidFill>
                    <a:srgbClr val="000000"/>
                  </a:solidFill>
                </a:uFill>
              </a:rPr>
              <a:t> </a:t>
            </a:r>
            <a:r>
              <a:rPr u="heavy" dirty="0">
                <a:uFill>
                  <a:solidFill>
                    <a:srgbClr val="000000"/>
                  </a:solidFill>
                </a:uFill>
              </a:rPr>
              <a:t>y</a:t>
            </a:r>
            <a:r>
              <a:rPr u="heavy" spc="-130" dirty="0">
                <a:uFill>
                  <a:solidFill>
                    <a:srgbClr val="000000"/>
                  </a:solidFill>
                </a:uFill>
              </a:rPr>
              <a:t> </a:t>
            </a:r>
            <a:r>
              <a:rPr u="heavy" spc="-10" dirty="0">
                <a:uFill>
                  <a:solidFill>
                    <a:srgbClr val="000000"/>
                  </a:solidFill>
                </a:uFill>
              </a:rPr>
              <a:t>específicos.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620B101C-1110-1993-5340-B28CD4B8E179}"/>
              </a:ext>
            </a:extLst>
          </p:cNvPr>
          <p:cNvSpPr txBox="1"/>
          <p:nvPr/>
        </p:nvSpPr>
        <p:spPr>
          <a:xfrm>
            <a:off x="4571999" y="3848100"/>
            <a:ext cx="9144000" cy="388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0215" algn="just">
              <a:lnSpc>
                <a:spcPct val="200000"/>
              </a:lnSpc>
              <a:spcAft>
                <a:spcPts val="800"/>
              </a:spcAft>
              <a:buNone/>
            </a:pPr>
            <a:r>
              <a:rPr lang="es-PE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Desarrollar e implementar una aplicación web funcional de arquitectura cliente-servidor mediante un </a:t>
            </a:r>
            <a:r>
              <a:rPr lang="es-PE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front-end</a:t>
            </a:r>
            <a:r>
              <a:rPr lang="es-PE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responsivo (HTML5, CSS3, JavaScript y Bootstrap) y un back-</a:t>
            </a:r>
            <a:r>
              <a:rPr lang="es-PE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end</a:t>
            </a:r>
            <a:r>
              <a:rPr lang="es-PE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en Node.js con Express.js y persistencia en archivos JSON, con el fin de sistematizar los procesos de promoción, exhibición de catálogos y difusión cronológica de ferias itinerantes para un emprendimiento local de confección e importación de mochilas en Lima Metropolitana, garantizando la accesibilidad digital y un rendimiento óptimo en dispositivos móviles de gama media.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1A3F6CE-76E8-3A32-77BC-9BFB2C7C9B7B}"/>
              </a:ext>
            </a:extLst>
          </p:cNvPr>
          <p:cNvSpPr txBox="1"/>
          <p:nvPr/>
        </p:nvSpPr>
        <p:spPr>
          <a:xfrm>
            <a:off x="4571999" y="3162300"/>
            <a:ext cx="9144000" cy="5619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0215" algn="just">
              <a:lnSpc>
                <a:spcPct val="200000"/>
              </a:lnSpc>
              <a:spcAft>
                <a:spcPts val="800"/>
              </a:spcAft>
              <a:buNone/>
            </a:pPr>
            <a:r>
              <a:rPr lang="es-PE" sz="18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OBJETIVO GENERAL</a:t>
            </a:r>
            <a:r>
              <a:rPr lang="es-PE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3E2BFD99-A1DA-0777-35FF-AAEEAFF34B88}"/>
              </a:ext>
            </a:extLst>
          </p:cNvPr>
          <p:cNvSpPr txBox="1"/>
          <p:nvPr/>
        </p:nvSpPr>
        <p:spPr>
          <a:xfrm>
            <a:off x="4572000" y="1104900"/>
            <a:ext cx="9144000" cy="8625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just">
              <a:lnSpc>
                <a:spcPct val="200000"/>
              </a:lnSpc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es-PE" sz="18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Objetivo 1</a:t>
            </a:r>
            <a:r>
              <a:rPr lang="es-PE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s-PE" sz="1800" i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(Funcionalidad Front-</a:t>
            </a:r>
            <a:r>
              <a:rPr lang="es-PE" sz="1800" i="1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end</a:t>
            </a:r>
            <a:r>
              <a:rPr lang="es-PE" sz="1800" i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)</a:t>
            </a:r>
            <a:r>
              <a:rPr lang="es-PE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: Diseñar e implementar una interfaz web interactiva y responsiva (</a:t>
            </a:r>
            <a:r>
              <a:rPr lang="es-PE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mobile-first</a:t>
            </a:r>
            <a:r>
              <a:rPr lang="es-PE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) utilizando HTML5, CSS3 y Bootstrap 5, que reduzca la fricción de navegación y cargue eficientemente en dispositivos móviles de gama media.  </a:t>
            </a:r>
          </a:p>
          <a:p>
            <a:pPr marL="342900" lvl="0" indent="-342900" algn="just">
              <a:lnSpc>
                <a:spcPct val="200000"/>
              </a:lnSpc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es-PE" sz="18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Objetivo 2</a:t>
            </a:r>
            <a:r>
              <a:rPr lang="es-PE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s-PE" sz="1800" i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(Módulo de Geolocalización e Información)</a:t>
            </a:r>
            <a:r>
              <a:rPr lang="es-PE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: Desarrollar un apartado dinámico y cronológico para la gestión de ferias que centralice las ubicaciones, fechas y enlaces de Google </a:t>
            </a:r>
            <a:r>
              <a:rPr lang="es-PE" sz="18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Maps</a:t>
            </a:r>
            <a:r>
              <a:rPr lang="es-PE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, logrando que el 100% de los usuarios recurrentes puedan localizar el negocio de manera exacta en cualquier momento.  </a:t>
            </a:r>
          </a:p>
          <a:p>
            <a:pPr marL="342900" lvl="0" indent="-342900" algn="just">
              <a:lnSpc>
                <a:spcPct val="200000"/>
              </a:lnSpc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es-PE" sz="18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Objetivo 3</a:t>
            </a:r>
            <a:r>
              <a:rPr lang="es-PE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s-PE" sz="1800" i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(Persistencia y Lógica Back-</a:t>
            </a:r>
            <a:r>
              <a:rPr lang="es-PE" sz="1800" i="1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end</a:t>
            </a:r>
            <a:r>
              <a:rPr lang="es-PE" sz="1800" i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)</a:t>
            </a:r>
            <a:r>
              <a:rPr lang="es-PE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: Configurar un servidor web funcional empleando Node.js y Express.js, estructurando rutas GET para servir el catálogo de mochilas y rutas POST para capturar y almacenar las solicitudes de compra en archivos JSON sin depender de sistemas de bases de datos complejos.  </a:t>
            </a:r>
          </a:p>
          <a:p>
            <a:pPr marL="342900" lvl="0" indent="-342900" algn="just">
              <a:lnSpc>
                <a:spcPct val="200000"/>
              </a:lnSpc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es-PE" sz="18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Objetivo 4 </a:t>
            </a:r>
            <a:r>
              <a:rPr lang="es-PE" sz="1800" i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(Calidad y Accesibilidad)</a:t>
            </a:r>
            <a:r>
              <a:rPr lang="es-PE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: Garantizar un índice de accesibilidad y rendimiento web superior a 80 puntos en la evaluación de la herramienta Lighthouse (o WAVE), asegurando tipografías legibles, alto contraste y una navegación estructurada apta para usuarios con diferentes niveles de alfabetización digital.  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381C9FB-8631-2A6B-4B96-771807ECC891}"/>
              </a:ext>
            </a:extLst>
          </p:cNvPr>
          <p:cNvSpPr txBox="1"/>
          <p:nvPr/>
        </p:nvSpPr>
        <p:spPr>
          <a:xfrm>
            <a:off x="4560627" y="419100"/>
            <a:ext cx="9144000" cy="5619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0215" algn="just">
              <a:lnSpc>
                <a:spcPct val="200000"/>
              </a:lnSpc>
              <a:spcAft>
                <a:spcPts val="800"/>
              </a:spcAft>
              <a:buNone/>
            </a:pPr>
            <a:r>
              <a:rPr lang="es-PE" sz="18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OBJETIVO ESPECÍFICOS</a:t>
            </a:r>
            <a:r>
              <a:rPr lang="es-PE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808492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143000" y="1409700"/>
            <a:ext cx="14935200" cy="139065"/>
          </a:xfrm>
          <a:custGeom>
            <a:avLst/>
            <a:gdLst/>
            <a:ahLst/>
            <a:cxnLst/>
            <a:rect l="l" t="t" r="r" b="b"/>
            <a:pathLst>
              <a:path w="14935200" h="139065">
                <a:moveTo>
                  <a:pt x="14935073" y="0"/>
                </a:moveTo>
                <a:lnTo>
                  <a:pt x="0" y="44196"/>
                </a:lnTo>
                <a:lnTo>
                  <a:pt x="88" y="139065"/>
                </a:lnTo>
                <a:lnTo>
                  <a:pt x="14935073" y="94869"/>
                </a:lnTo>
                <a:lnTo>
                  <a:pt x="1493507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33247" rIns="0" bIns="0" rtlCol="0">
            <a:spAutoFit/>
          </a:bodyPr>
          <a:lstStyle/>
          <a:p>
            <a:pPr marL="200660">
              <a:lnSpc>
                <a:spcPct val="100000"/>
              </a:lnSpc>
              <a:spcBef>
                <a:spcPts val="100"/>
              </a:spcBef>
            </a:pPr>
            <a:r>
              <a:rPr dirty="0"/>
              <a:t>9.</a:t>
            </a:r>
            <a:r>
              <a:rPr spc="-200" dirty="0"/>
              <a:t> </a:t>
            </a:r>
            <a:r>
              <a:rPr dirty="0"/>
              <a:t>Referencias</a:t>
            </a:r>
            <a:r>
              <a:rPr spc="-150" dirty="0"/>
              <a:t> </a:t>
            </a:r>
            <a:r>
              <a:rPr spc="-10" dirty="0"/>
              <a:t>Bibliograficas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CAE3338-8298-1EC2-3599-BDB9115029F9}"/>
              </a:ext>
            </a:extLst>
          </p:cNvPr>
          <p:cNvSpPr txBox="1"/>
          <p:nvPr/>
        </p:nvSpPr>
        <p:spPr>
          <a:xfrm>
            <a:off x="1143000" y="2783110"/>
            <a:ext cx="9144000" cy="388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200000"/>
              </a:lnSpc>
              <a:buNone/>
            </a:pPr>
            <a:r>
              <a:rPr lang="es-P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Instituto Nacional de Estadística e Informática. (2023). </a:t>
            </a:r>
            <a:r>
              <a:rPr lang="es-PE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Encuesta Nacional de Mercados de Abastos y Comercio Local en el Perú</a:t>
            </a:r>
            <a:r>
              <a:rPr lang="es-P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>
              <a:lnSpc>
                <a:spcPct val="200000"/>
              </a:lnSpc>
              <a:buNone/>
            </a:pPr>
            <a:r>
              <a:rPr lang="es-P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Ministerio de la Producción. (2024). </a:t>
            </a:r>
            <a:r>
              <a:rPr lang="es-PE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PRODUCE</a:t>
            </a:r>
            <a:r>
              <a:rPr lang="es-P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Gobierno del Perú. </a:t>
            </a:r>
            <a:r>
              <a:rPr lang="es-P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https://www.gob.pe/produce</a:t>
            </a:r>
            <a:endParaRPr lang="es-PE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200000"/>
              </a:lnSpc>
              <a:buNone/>
            </a:pPr>
            <a:r>
              <a:rPr lang="es-P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Mozilla Developer Network. (2024). </a:t>
            </a:r>
            <a:r>
              <a:rPr lang="es-PE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Fundamentos de Accesibilidad Web</a:t>
            </a:r>
            <a:r>
              <a:rPr lang="es-P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MDN Web Docs. </a:t>
            </a:r>
            <a:r>
              <a:rPr lang="es-P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https://developer.mozilla.org/es/docs/Learn/Accessibility</a:t>
            </a:r>
            <a:endParaRPr lang="es-PE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200000"/>
              </a:lnSpc>
              <a:buNone/>
            </a:pPr>
            <a:r>
              <a:rPr lang="es-P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Node.js </a:t>
            </a:r>
            <a:r>
              <a:rPr lang="es-PE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Foundation</a:t>
            </a:r>
            <a:r>
              <a:rPr lang="es-P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(2024). </a:t>
            </a:r>
            <a:r>
              <a:rPr lang="es-PE" i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Documentación oficial de Express.js</a:t>
            </a:r>
            <a:r>
              <a:rPr lang="es-P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s-PE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OpenJS</a:t>
            </a:r>
            <a:r>
              <a:rPr lang="es-P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PE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Foundation</a:t>
            </a:r>
            <a:r>
              <a:rPr lang="es-P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s-P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https://expressjs.com/es/</a:t>
            </a:r>
            <a:endParaRPr lang="es-PE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811" y="1302258"/>
            <a:ext cx="18268188" cy="1666494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0" y="2561082"/>
            <a:ext cx="18288000" cy="6993890"/>
            <a:chOff x="0" y="2561082"/>
            <a:chExt cx="18288000" cy="699389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7887461"/>
              <a:ext cx="18204179" cy="1667256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0" y="2561082"/>
              <a:ext cx="18288000" cy="5684520"/>
            </a:xfrm>
            <a:custGeom>
              <a:avLst/>
              <a:gdLst/>
              <a:ahLst/>
              <a:cxnLst/>
              <a:rect l="l" t="t" r="r" b="b"/>
              <a:pathLst>
                <a:path w="18288000" h="5684520">
                  <a:moveTo>
                    <a:pt x="18288000" y="0"/>
                  </a:moveTo>
                  <a:lnTo>
                    <a:pt x="0" y="0"/>
                  </a:lnTo>
                  <a:lnTo>
                    <a:pt x="0" y="5684520"/>
                  </a:lnTo>
                  <a:lnTo>
                    <a:pt x="18288000" y="5684520"/>
                  </a:lnTo>
                  <a:lnTo>
                    <a:pt x="18288000" y="0"/>
                  </a:lnTo>
                  <a:close/>
                </a:path>
              </a:pathLst>
            </a:custGeom>
            <a:solidFill>
              <a:srgbClr val="032C6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5154676" y="4138676"/>
            <a:ext cx="7232650" cy="17100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50" b="1" dirty="0">
                <a:solidFill>
                  <a:srgbClr val="FFFFFF"/>
                </a:solidFill>
                <a:latin typeface="Trebuchet MS"/>
                <a:cs typeface="Trebuchet MS"/>
              </a:rPr>
              <a:t>¡</a:t>
            </a:r>
            <a:r>
              <a:rPr sz="11050" b="1" spc="-12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1050" b="1" spc="160" dirty="0">
                <a:solidFill>
                  <a:srgbClr val="FFFFFF"/>
                </a:solidFill>
                <a:latin typeface="Trebuchet MS"/>
                <a:cs typeface="Trebuchet MS"/>
              </a:rPr>
              <a:t>GRACIAS!</a:t>
            </a:r>
            <a:endParaRPr sz="11050">
              <a:latin typeface="Trebuchet MS"/>
              <a:cs typeface="Trebuchet M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</TotalTime>
  <Words>692</Words>
  <Application>Microsoft Office PowerPoint</Application>
  <PresentationFormat>Personalizado</PresentationFormat>
  <Paragraphs>31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7" baseType="lpstr">
      <vt:lpstr>Arial</vt:lpstr>
      <vt:lpstr>Arial MT</vt:lpstr>
      <vt:lpstr>Calibri</vt:lpstr>
      <vt:lpstr>Symbol</vt:lpstr>
      <vt:lpstr>Times New Roman</vt:lpstr>
      <vt:lpstr>Trebuchet MS</vt:lpstr>
      <vt:lpstr>Office Theme</vt:lpstr>
      <vt:lpstr>UPN</vt:lpstr>
      <vt:lpstr>1. Titulo del proyecto</vt:lpstr>
      <vt:lpstr>1. MC BackPack | Diseño, Comodidad y Estilo</vt:lpstr>
      <vt:lpstr>Integrantes: - Armas Camones, Jeremy Geraldo - Candiotti Simeon, Monica Sofia - Castillo Flores, Pablo Joel - Gaitan Gonzales, Geradth Humberto - Huisa Valle, Justhin Christofher</vt:lpstr>
      <vt:lpstr> 2. Identificar el emprendimiento objetivo</vt:lpstr>
      <vt:lpstr> 3. Definir y formular el problema</vt:lpstr>
      <vt:lpstr> 4. Objetivo General y específicos.</vt:lpstr>
      <vt:lpstr>Presentación de PowerPoint</vt:lpstr>
      <vt:lpstr>9. Referencias Bibliograficas</vt:lpstr>
      <vt:lpstr>¡ GRACIAS!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Presentacion Trabajo Final de Grado Proyecto Profesional Moderno Azul</dc:title>
  <dc:creator>Mathias Rodriguez Pizan</dc:creator>
  <cp:keywords>DAHGxbU4Dkk,BAGoRqtth4Y,0</cp:keywords>
  <cp:lastModifiedBy>Juan C Candiotti</cp:lastModifiedBy>
  <cp:revision>2</cp:revision>
  <dcterms:created xsi:type="dcterms:W3CDTF">2026-06-19T20:20:32Z</dcterms:created>
  <dcterms:modified xsi:type="dcterms:W3CDTF">2026-06-19T21:44:14Z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2026-06-12T00:00:00Z</vt:filetime>
  </property>
  <property fmtid="{D5CDD505-2E9C-101B-9397-08002B2CF9AE}" pid="4" name="Creator">
    <vt:lpwstr>Microsoft® PowerPoint® LTSC</vt:lpwstr>
  </property>
  <property fmtid="{D5CDD505-2E9C-101B-9397-08002B2CF9AE}" pid="5" name="LastSaved">
    <vt:filetime>2026-06-19T00:00:00Z</vt:filetime>
  </property>
  <property fmtid="{D5CDD505-2E9C-101B-9397-08002B2CF9AE}" pid="6" name="Producer">
    <vt:lpwstr>Microsoft® PowerPoint® LTSC</vt:lpwstr>
  </property>
</Properties>
</file>